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77" r:id="rId3"/>
    <p:sldId id="258" r:id="rId4"/>
    <p:sldId id="263" r:id="rId5"/>
    <p:sldId id="268" r:id="rId6"/>
    <p:sldId id="269" r:id="rId7"/>
    <p:sldId id="270" r:id="rId8"/>
    <p:sldId id="271" r:id="rId9"/>
    <p:sldId id="281" r:id="rId10"/>
    <p:sldId id="282" r:id="rId11"/>
    <p:sldId id="283" r:id="rId12"/>
    <p:sldId id="284" r:id="rId13"/>
    <p:sldId id="285" r:id="rId14"/>
    <p:sldId id="286" r:id="rId15"/>
    <p:sldId id="287" r:id="rId16"/>
    <p:sldId id="272" r:id="rId17"/>
    <p:sldId id="280" r:id="rId18"/>
    <p:sldId id="274" r:id="rId19"/>
    <p:sldId id="278" r:id="rId20"/>
    <p:sldId id="265" r:id="rId21"/>
    <p:sldId id="259" r:id="rId22"/>
  </p:sldIdLst>
  <p:sldSz cx="12192000" cy="6858000"/>
  <p:notesSz cx="6858000" cy="9144000"/>
  <p:embeddedFontLst>
    <p:embeddedFont>
      <p:font typeface="Libre Baskerville" panose="02000000000000000000" pitchFamily="2" charset="0"/>
      <p:regular r:id="rId24"/>
      <p:bold r:id="rId25"/>
      <p: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saraffsvinitha-blip/-Saraff-Vineetha" TargetMode="External"/><Relationship Id="rId2" Type="http://schemas.openxmlformats.org/officeDocument/2006/relationships/hyperlink" Target="http://www.linkedin.com/in/saraff-vineetha-787779416"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0" y="0"/>
            <a:ext cx="12190815" cy="6858000"/>
          </a:xfrm>
          <a:prstGeom prst="rect">
            <a:avLst/>
          </a:prstGeom>
          <a:noFill/>
          <a:ln>
            <a:noFill/>
          </a:ln>
        </p:spPr>
      </p:pic>
      <p:sp>
        <p:nvSpPr>
          <p:cNvPr id="99" name="Google Shape;99;p1"/>
          <p:cNvSpPr txBox="1"/>
          <p:nvPr/>
        </p:nvSpPr>
        <p:spPr>
          <a:xfrm>
            <a:off x="2541729" y="3517491"/>
            <a:ext cx="7246189" cy="1200288"/>
          </a:xfrm>
          <a:prstGeom prst="rect">
            <a:avLst/>
          </a:prstGeom>
          <a:noFill/>
          <a:ln>
            <a:noFill/>
          </a:ln>
        </p:spPr>
        <p:txBody>
          <a:bodyPr spcFirstLastPara="1" wrap="square" lIns="91425" tIns="45700" rIns="91425" bIns="45700" anchor="t" anchorCtr="0">
            <a:spAutoFit/>
          </a:bodyPr>
          <a:lstStyle/>
          <a:p>
            <a:pPr lvl="0" algn="ctr">
              <a:buSzPts val="1800"/>
            </a:pPr>
            <a:r>
              <a:rPr lang="en-US" sz="3600" b="1" dirty="0">
                <a:latin typeface="Times New Roman" panose="02020603050405020304" pitchFamily="18" charset="0"/>
                <a:cs typeface="Times New Roman" panose="02020603050405020304" pitchFamily="18" charset="0"/>
              </a:rPr>
              <a:t>Amazon Laptop Market Analysis </a:t>
            </a:r>
            <a:br>
              <a:rPr lang="en-US" sz="3600" b="1" dirty="0">
                <a:latin typeface="Times New Roman" panose="02020603050405020304" pitchFamily="18" charset="0"/>
                <a:cs typeface="Times New Roman" panose="02020603050405020304" pitchFamily="18" charset="0"/>
              </a:rPr>
            </a:br>
            <a:endParaRPr sz="36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529D73A6-1165-F832-20AE-821CDDD818AD}"/>
              </a:ext>
            </a:extLst>
          </p:cNvPr>
          <p:cNvSpPr txBox="1"/>
          <p:nvPr/>
        </p:nvSpPr>
        <p:spPr>
          <a:xfrm>
            <a:off x="8917858" y="4886631"/>
            <a:ext cx="2369574" cy="1015663"/>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Presented By:</a:t>
            </a:r>
          </a:p>
          <a:p>
            <a:r>
              <a:rPr lang="en-US" sz="1800" dirty="0">
                <a:solidFill>
                  <a:schemeClr val="tx1"/>
                </a:solidFill>
                <a:latin typeface="Times New Roman" panose="02020603050405020304" pitchFamily="18" charset="0"/>
                <a:cs typeface="Times New Roman" panose="02020603050405020304" pitchFamily="18" charset="0"/>
              </a:rPr>
              <a:t>Saraff Vineetha</a:t>
            </a:r>
          </a:p>
          <a:p>
            <a:r>
              <a:rPr lang="en-US" sz="1800" dirty="0">
                <a:latin typeface="Times New Roman" panose="02020603050405020304" pitchFamily="18" charset="0"/>
                <a:cs typeface="Times New Roman" panose="02020603050405020304" pitchFamily="18" charset="0"/>
              </a:rPr>
              <a:t>Batch :543</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3466B-3CD0-9A78-5D60-1049D1F2F38E}"/>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About ME:</a:t>
            </a:r>
          </a:p>
        </p:txBody>
      </p:sp>
      <p:sp>
        <p:nvSpPr>
          <p:cNvPr id="3" name="Text Placeholder 2">
            <a:extLst>
              <a:ext uri="{FF2B5EF4-FFF2-40B4-BE49-F238E27FC236}">
                <a16:creationId xmlns:a16="http://schemas.microsoft.com/office/drawing/2014/main" id="{A34617AE-91DA-48D3-4E13-1C9785B6B55C}"/>
              </a:ext>
            </a:extLst>
          </p:cNvPr>
          <p:cNvSpPr>
            <a:spLocks noGrp="1"/>
          </p:cNvSpPr>
          <p:nvPr>
            <p:ph type="body" idx="1"/>
          </p:nvPr>
        </p:nvSpPr>
        <p:spPr/>
        <p:txBody>
          <a:bodyPr/>
          <a:lstStyle/>
          <a:p>
            <a:pPr marL="285750" lvl="0" indent="-323850">
              <a:lnSpc>
                <a:spcPct val="100000"/>
              </a:lnSpc>
              <a:spcBef>
                <a:spcPts val="0"/>
              </a:spcBef>
              <a:buSzPts val="2400"/>
            </a:pPr>
            <a:r>
              <a:rPr lang="en-IN" dirty="0">
                <a:latin typeface="Times New Roman" panose="02020603050405020304" pitchFamily="18" charset="0"/>
                <a:cs typeface="Times New Roman" panose="02020603050405020304" pitchFamily="18" charset="0"/>
              </a:rPr>
              <a:t>B-Tech(Information Technology)</a:t>
            </a:r>
          </a:p>
          <a:p>
            <a:pPr marL="285750" lvl="0" indent="-323850">
              <a:lnSpc>
                <a:spcPct val="100000"/>
              </a:lnSpc>
              <a:spcBef>
                <a:spcPts val="0"/>
              </a:spcBef>
              <a:buSzPts val="2400"/>
            </a:pPr>
            <a:r>
              <a:rPr lang="en-IN" dirty="0">
                <a:latin typeface="Times New Roman" panose="02020603050405020304" pitchFamily="18" charset="0"/>
                <a:cs typeface="Times New Roman" panose="02020603050405020304" pitchFamily="18" charset="0"/>
              </a:rPr>
              <a:t>Passed out Year: 2026</a:t>
            </a:r>
          </a:p>
          <a:p>
            <a:pPr marL="285750" indent="-323850">
              <a:spcBef>
                <a:spcPts val="0"/>
              </a:spcBef>
              <a:buSzPts val="2400"/>
            </a:pPr>
            <a:r>
              <a:rPr lang="en-US" dirty="0"/>
              <a:t>I chose Data Analytics because I enjoy working with data, solving problems, and finding useful patterns that help businesses make better decisions.</a:t>
            </a:r>
            <a:endParaRPr lang="en-IN" dirty="0">
              <a:latin typeface="Times New Roman" panose="02020603050405020304" pitchFamily="18" charset="0"/>
              <a:cs typeface="Times New Roman" panose="02020603050405020304" pitchFamily="18" charset="0"/>
            </a:endParaRPr>
          </a:p>
          <a:p>
            <a:pPr marL="285750" lvl="0" indent="-323850">
              <a:buSzPts val="2400"/>
            </a:pPr>
            <a:r>
              <a:rPr lang="en-IN" dirty="0"/>
              <a:t>LinkedIn: </a:t>
            </a:r>
            <a:r>
              <a:rPr lang="en-IN" dirty="0">
                <a:hlinkClick r:id="rId2"/>
              </a:rPr>
              <a:t>www.linkedin.com/in/saraff-vineetha-787779416</a:t>
            </a:r>
            <a:endParaRPr lang="en-IN" dirty="0"/>
          </a:p>
          <a:p>
            <a:pPr marL="285750" lvl="0" indent="-323850">
              <a:buSzPts val="2400"/>
            </a:pPr>
            <a:r>
              <a:rPr lang="en-IN" dirty="0"/>
              <a:t>GitHub: </a:t>
            </a:r>
            <a:r>
              <a:rPr lang="en-IN" dirty="0">
                <a:hlinkClick r:id="rId3"/>
              </a:rPr>
              <a:t>https://github.com/saraffsvinitha-blip/-Saraff-Vineetha</a:t>
            </a:r>
            <a:endParaRPr lang="en-IN" dirty="0"/>
          </a:p>
          <a:p>
            <a:endParaRPr lang="en-US" dirty="0"/>
          </a:p>
        </p:txBody>
      </p:sp>
    </p:spTree>
    <p:extLst>
      <p:ext uri="{BB962C8B-B14F-4D97-AF65-F5344CB8AC3E}">
        <p14:creationId xmlns:p14="http://schemas.microsoft.com/office/powerpoint/2010/main" val="851531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    </a:t>
            </a:r>
            <a:r>
              <a:rPr lang="en-IN" b="1" dirty="0">
                <a:solidFill>
                  <a:schemeClr val="tx1"/>
                </a:solidFill>
              </a:rPr>
              <a:t>Agenda :</a:t>
            </a:r>
            <a:endParaRPr b="1" dirty="0">
              <a:solidFill>
                <a:schemeClr val="tx1"/>
              </a:solidFill>
            </a:endParaRPr>
          </a:p>
        </p:txBody>
      </p:sp>
      <p:sp>
        <p:nvSpPr>
          <p:cNvPr id="111" name="Google Shape;111;p4"/>
          <p:cNvSpPr txBox="1">
            <a:spLocks noGrp="1"/>
          </p:cNvSpPr>
          <p:nvPr>
            <p:ph type="body" idx="1"/>
          </p:nvPr>
        </p:nvSpPr>
        <p:spPr>
          <a:xfrm>
            <a:off x="762000" y="1056640"/>
            <a:ext cx="10438480" cy="5213728"/>
          </a:xfrm>
          <a:prstGeom prst="rect">
            <a:avLst/>
          </a:prstGeom>
          <a:noFill/>
          <a:ln>
            <a:noFill/>
          </a:ln>
        </p:spPr>
        <p:txBody>
          <a:bodyPr spcFirstLastPara="1" wrap="square" lIns="91425" tIns="45700" rIns="91425" bIns="45700" anchor="t" anchorCtr="0">
            <a:normAutofit fontScale="92500" lnSpcReduction="20000"/>
          </a:bodyPr>
          <a:lstStyle/>
          <a:p>
            <a:pPr indent="-431800">
              <a:buSzPts val="2400"/>
            </a:pPr>
            <a:r>
              <a:rPr lang="en-US" b="1" dirty="0">
                <a:latin typeface="Times New Roman" panose="02020603050405020304" pitchFamily="18" charset="0"/>
                <a:cs typeface="Times New Roman" panose="02020603050405020304" pitchFamily="18" charset="0"/>
              </a:rPr>
              <a:t>Business Problem</a:t>
            </a:r>
          </a:p>
          <a:p>
            <a:pPr indent="-431800">
              <a:buSzPts val="2400"/>
            </a:pPr>
            <a:r>
              <a:rPr lang="en-US" b="1" dirty="0">
                <a:latin typeface="Times New Roman" panose="02020603050405020304" pitchFamily="18" charset="0"/>
                <a:cs typeface="Times New Roman" panose="02020603050405020304" pitchFamily="18" charset="0"/>
              </a:rPr>
              <a:t>Business Statement</a:t>
            </a:r>
          </a:p>
          <a:p>
            <a:pPr indent="-431800">
              <a:buSzPts val="2400"/>
            </a:pPr>
            <a:r>
              <a:rPr lang="en-US" b="1" dirty="0">
                <a:latin typeface="Times New Roman" panose="02020603050405020304" pitchFamily="18" charset="0"/>
                <a:cs typeface="Times New Roman" panose="02020603050405020304" pitchFamily="18" charset="0"/>
              </a:rPr>
              <a:t>Objective </a:t>
            </a:r>
          </a:p>
          <a:p>
            <a:pPr indent="-431800">
              <a:buSzPts val="2400"/>
            </a:pPr>
            <a:r>
              <a:rPr lang="en-US" b="1" dirty="0">
                <a:latin typeface="Times New Roman" panose="02020603050405020304" pitchFamily="18" charset="0"/>
                <a:cs typeface="Times New Roman" panose="02020603050405020304" pitchFamily="18" charset="0"/>
              </a:rPr>
              <a:t>Introduction</a:t>
            </a:r>
          </a:p>
          <a:p>
            <a:pPr indent="-431800">
              <a:buSzPts val="2400"/>
            </a:pPr>
            <a:r>
              <a:rPr lang="en-US" b="1" dirty="0">
                <a:latin typeface="Times New Roman" panose="02020603050405020304" pitchFamily="18" charset="0"/>
                <a:cs typeface="Times New Roman" panose="02020603050405020304" pitchFamily="18" charset="0"/>
              </a:rPr>
              <a:t>Data description</a:t>
            </a:r>
          </a:p>
          <a:p>
            <a:pPr indent="-431800">
              <a:buSzPts val="2400"/>
            </a:pPr>
            <a:r>
              <a:rPr lang="en-US" b="1" dirty="0">
                <a:latin typeface="Times New Roman" panose="02020603050405020304" pitchFamily="18" charset="0"/>
                <a:cs typeface="Times New Roman" panose="02020603050405020304" pitchFamily="18" charset="0"/>
              </a:rPr>
              <a:t>Data Cleaning</a:t>
            </a:r>
          </a:p>
          <a:p>
            <a:pPr indent="-431800">
              <a:buSzPts val="2400"/>
            </a:pPr>
            <a:r>
              <a:rPr lang="en-US" b="1" dirty="0">
                <a:latin typeface="Times New Roman" panose="02020603050405020304" pitchFamily="18" charset="0"/>
                <a:cs typeface="Times New Roman" panose="02020603050405020304" pitchFamily="18" charset="0"/>
              </a:rPr>
              <a:t>Analysis </a:t>
            </a:r>
          </a:p>
          <a:p>
            <a:pPr indent="-431800">
              <a:buSzPts val="2400"/>
            </a:pPr>
            <a:r>
              <a:rPr lang="en-US" b="1" dirty="0">
                <a:latin typeface="Times New Roman" panose="02020603050405020304" pitchFamily="18" charset="0"/>
                <a:cs typeface="Times New Roman" panose="02020603050405020304" pitchFamily="18" charset="0"/>
              </a:rPr>
              <a:t>Insights</a:t>
            </a:r>
          </a:p>
          <a:p>
            <a:pPr indent="-431800">
              <a:buSzPts val="2400"/>
            </a:pPr>
            <a:r>
              <a:rPr lang="en-US" b="1" dirty="0">
                <a:latin typeface="Times New Roman" panose="02020603050405020304" pitchFamily="18" charset="0"/>
                <a:cs typeface="Times New Roman" panose="02020603050405020304" pitchFamily="18" charset="0"/>
              </a:rPr>
              <a:t>Testing</a:t>
            </a:r>
          </a:p>
          <a:p>
            <a:pPr indent="-431800">
              <a:buSzPts val="2400"/>
            </a:pPr>
            <a:r>
              <a:rPr lang="en-US" b="1" dirty="0">
                <a:latin typeface="Times New Roman" panose="02020603050405020304" pitchFamily="18" charset="0"/>
                <a:cs typeface="Times New Roman" panose="02020603050405020304" pitchFamily="18" charset="0"/>
              </a:rPr>
              <a:t>Recommendations</a:t>
            </a:r>
          </a:p>
          <a:p>
            <a:pPr indent="-431800">
              <a:buSzPts val="2400"/>
            </a:pPr>
            <a:r>
              <a:rPr lang="en-US" b="1" dirty="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a:p>
            <a:pPr indent="-431800">
              <a:buSzPts val="2400"/>
            </a:pPr>
            <a:r>
              <a:rPr lang="en-US" b="1" dirty="0">
                <a:latin typeface="Times New Roman" panose="02020603050405020304" pitchFamily="18" charset="0"/>
                <a:cs typeface="Times New Roman" panose="02020603050405020304" pitchFamily="18" charset="0"/>
              </a:rPr>
              <a:t>Q&amp;A Slide </a:t>
            </a:r>
            <a:endParaRPr lang="en-US" dirty="0">
              <a:latin typeface="Times New Roman" panose="02020603050405020304" pitchFamily="18" charset="0"/>
              <a:cs typeface="Times New Roman" panose="02020603050405020304" pitchFamily="18" charset="0"/>
            </a:endParaRPr>
          </a:p>
          <a:p>
            <a:pPr marL="457200" lvl="0" indent="-431800" algn="l" rtl="0">
              <a:lnSpc>
                <a:spcPct val="90000"/>
              </a:lnSpc>
              <a:spcBef>
                <a:spcPts val="1000"/>
              </a:spcBef>
              <a:spcAft>
                <a:spcPts val="0"/>
              </a:spcAft>
              <a:buSzPts val="2400"/>
              <a:buChar char="•"/>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7FB4E-6D2C-1297-55E7-BF3CABCD349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Business Problem</a:t>
            </a:r>
            <a:r>
              <a:rPr lang="en-US" dirty="0">
                <a:latin typeface="Times New Roman" panose="02020603050405020304" pitchFamily="18" charset="0"/>
                <a:cs typeface="Times New Roman" panose="02020603050405020304" pitchFamily="18" charset="0"/>
              </a:rPr>
              <a:t> :</a:t>
            </a:r>
          </a:p>
        </p:txBody>
      </p:sp>
      <p:sp>
        <p:nvSpPr>
          <p:cNvPr id="3" name="Text Placeholder 2">
            <a:extLst>
              <a:ext uri="{FF2B5EF4-FFF2-40B4-BE49-F238E27FC236}">
                <a16:creationId xmlns:a16="http://schemas.microsoft.com/office/drawing/2014/main" id="{779CF9E5-F9C8-1316-B9E5-8CB2BF47550A}"/>
              </a:ext>
            </a:extLst>
          </p:cNvPr>
          <p:cNvSpPr>
            <a:spLocks noGrp="1"/>
          </p:cNvSpPr>
          <p:nvPr>
            <p:ph type="body" idx="1"/>
          </p:nvPr>
        </p:nvSpPr>
        <p:spPr>
          <a:xfrm>
            <a:off x="838200" y="1366684"/>
            <a:ext cx="10515600" cy="4810279"/>
          </a:xfrm>
        </p:spPr>
        <p:txBody>
          <a:bodyPr>
            <a:normAutofit/>
          </a:bodyPr>
          <a:lstStyle/>
          <a:p>
            <a:pPr marL="114300" indent="0">
              <a:buNone/>
            </a:pPr>
            <a:r>
              <a:rPr lang="en-US" sz="2400" dirty="0">
                <a:latin typeface="Times New Roman" panose="02020603050405020304" pitchFamily="18" charset="0"/>
                <a:cs typeface="Times New Roman" panose="02020603050405020304" pitchFamily="18" charset="0"/>
              </a:rPr>
              <a:t>The laptop market offers a wide range of products with different brands, models, RAM, ROM, processors, operating systems, prices, discounts, and customer ratings. With so many choices, customers may find it difficult to compare laptops and identify the best product according to their budget and requirements. Businesses also need to understand which brands and specifications are popular, how prices vary across products, and whether discounts and ratings influence customer choices. This project analyzes Amazon laptop data to identify product trends, pricing patterns, popular configurations, discount levels, and customer ratings. </a:t>
            </a:r>
          </a:p>
          <a:p>
            <a:pPr marL="11430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537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75833-7D87-1CEF-209A-AE9E9C8015C7}"/>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Business Statement:</a:t>
            </a:r>
          </a:p>
        </p:txBody>
      </p:sp>
      <p:sp>
        <p:nvSpPr>
          <p:cNvPr id="3" name="Text Placeholder 2">
            <a:extLst>
              <a:ext uri="{FF2B5EF4-FFF2-40B4-BE49-F238E27FC236}">
                <a16:creationId xmlns:a16="http://schemas.microsoft.com/office/drawing/2014/main" id="{6F9A2D58-B5B6-930C-FFB7-3B885A243A34}"/>
              </a:ext>
            </a:extLst>
          </p:cNvPr>
          <p:cNvSpPr>
            <a:spLocks noGrp="1"/>
          </p:cNvSpPr>
          <p:nvPr>
            <p:ph type="body" idx="1"/>
          </p:nvPr>
        </p:nvSpPr>
        <p:spPr>
          <a:xfrm>
            <a:off x="953728" y="1376516"/>
            <a:ext cx="10400071" cy="4800447"/>
          </a:xfrm>
        </p:spPr>
        <p:txBody>
          <a:bodyPr>
            <a:normAutofit/>
          </a:bodyPr>
          <a:lstStyle/>
          <a:p>
            <a:pPr marL="114300" indent="0" algn="just">
              <a:buNone/>
            </a:pPr>
            <a:r>
              <a:rPr lang="en-US" sz="2400" dirty="0">
                <a:latin typeface="Times New Roman" panose="02020603050405020304" pitchFamily="18" charset="0"/>
                <a:cs typeface="Times New Roman" panose="02020603050405020304" pitchFamily="18" charset="0"/>
              </a:rPr>
              <a:t>The purpose of this project is to collect and analyze Amazon laptop product data using web scraping techniques. The analysis focuses on important attributes such as brand, model, RAM, ROM, processor, price, discount, rating, and customer reviews. The project aims to identify patterns and relationships among product specifications, pricing, discounts, and customer engagement. By applying data cleaning, Exploratory Data Analysis (EDA), and statistical analysis, the project generates meaningful insights that can support better product comparison, pricing, and promotional decisions.</a:t>
            </a:r>
          </a:p>
        </p:txBody>
      </p:sp>
    </p:spTree>
    <p:extLst>
      <p:ext uri="{BB962C8B-B14F-4D97-AF65-F5344CB8AC3E}">
        <p14:creationId xmlns:p14="http://schemas.microsoft.com/office/powerpoint/2010/main" val="3221066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F9D11-5CA4-97FD-3695-49AE4736DAEF}"/>
              </a:ext>
            </a:extLst>
          </p:cNvPr>
          <p:cNvSpPr>
            <a:spLocks noGrp="1"/>
          </p:cNvSpPr>
          <p:nvPr>
            <p:ph type="title"/>
          </p:nvPr>
        </p:nvSpPr>
        <p:spPr/>
        <p:txBody>
          <a:bodyPr>
            <a:normAutofit/>
          </a:bodyPr>
          <a:lstStyle/>
          <a:p>
            <a:r>
              <a:rPr lang="en-US" b="1" dirty="0"/>
              <a:t>Objectives</a:t>
            </a:r>
            <a:r>
              <a:rPr lang="en-US" sz="4000" b="1" dirty="0">
                <a:latin typeface="Times New Roman" panose="02020603050405020304" pitchFamily="18" charset="0"/>
                <a:cs typeface="Times New Roman" panose="02020603050405020304" pitchFamily="18" charset="0"/>
              </a:rPr>
              <a:t>:</a:t>
            </a:r>
          </a:p>
        </p:txBody>
      </p:sp>
      <p:sp>
        <p:nvSpPr>
          <p:cNvPr id="3" name="Text Placeholder 2">
            <a:extLst>
              <a:ext uri="{FF2B5EF4-FFF2-40B4-BE49-F238E27FC236}">
                <a16:creationId xmlns:a16="http://schemas.microsoft.com/office/drawing/2014/main" id="{8362F3F2-0E82-7036-BD90-2523C697A245}"/>
              </a:ext>
            </a:extLst>
          </p:cNvPr>
          <p:cNvSpPr>
            <a:spLocks noGrp="1"/>
          </p:cNvSpPr>
          <p:nvPr>
            <p:ph type="body" idx="1"/>
          </p:nvPr>
        </p:nvSpPr>
        <p:spPr>
          <a:xfrm>
            <a:off x="838200" y="1379621"/>
            <a:ext cx="10515600" cy="4797342"/>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Analyze 324 laptop records and identify market trends.</a:t>
            </a:r>
          </a:p>
          <a:p>
            <a:pPr lvl="0"/>
            <a:r>
              <a:rPr lang="en-US" dirty="0">
                <a:latin typeface="Times New Roman" panose="02020603050405020304" pitchFamily="18" charset="0"/>
                <a:cs typeface="Times New Roman" panose="02020603050405020304" pitchFamily="18" charset="0"/>
              </a:rPr>
              <a:t>Compare brands based on price, discount, and rating.</a:t>
            </a:r>
          </a:p>
          <a:p>
            <a:pPr lvl="0"/>
            <a:r>
              <a:rPr lang="en-US" dirty="0">
                <a:latin typeface="Times New Roman" panose="02020603050405020304" pitchFamily="18" charset="0"/>
                <a:cs typeface="Times New Roman" panose="02020603050405020304" pitchFamily="18" charset="0"/>
              </a:rPr>
              <a:t>Identify popular laptop specifications such as RAM, ROM, and processor.</a:t>
            </a:r>
          </a:p>
          <a:p>
            <a:pPr lvl="0"/>
            <a:r>
              <a:rPr lang="en-US" dirty="0">
                <a:latin typeface="Times New Roman" panose="02020603050405020304" pitchFamily="18" charset="0"/>
                <a:cs typeface="Times New Roman" panose="02020603050405020304" pitchFamily="18" charset="0"/>
              </a:rPr>
              <a:t>Analyze budget, mid-range, and premium price segments.</a:t>
            </a:r>
          </a:p>
          <a:p>
            <a:pPr lvl="0"/>
            <a:r>
              <a:rPr lang="en-US" dirty="0">
                <a:latin typeface="Times New Roman" panose="02020603050405020304" pitchFamily="18" charset="0"/>
                <a:cs typeface="Times New Roman" panose="02020603050405020304" pitchFamily="18" charset="0"/>
              </a:rPr>
              <a:t>Study the relationship between price and rating.</a:t>
            </a:r>
          </a:p>
          <a:p>
            <a:pPr lvl="0"/>
            <a:r>
              <a:rPr lang="en-US" dirty="0">
                <a:latin typeface="Times New Roman" panose="02020603050405020304" pitchFamily="18" charset="0"/>
                <a:cs typeface="Times New Roman" panose="02020603050405020304" pitchFamily="18" charset="0"/>
              </a:rPr>
              <a:t>Identify highly rated and best-value laptops.</a:t>
            </a:r>
          </a:p>
          <a:p>
            <a:pPr lvl="0"/>
            <a:r>
              <a:rPr lang="en-US" dirty="0">
                <a:latin typeface="Times New Roman" panose="02020603050405020304" pitchFamily="18" charset="0"/>
                <a:cs typeface="Times New Roman" panose="02020603050405020304" pitchFamily="18" charset="0"/>
              </a:rPr>
              <a:t>Analyze discount patterns across different brands and products.</a:t>
            </a:r>
          </a:p>
          <a:p>
            <a:pPr lvl="0"/>
            <a:r>
              <a:rPr lang="en-US" dirty="0">
                <a:latin typeface="Times New Roman" panose="02020603050405020304" pitchFamily="18" charset="0"/>
                <a:cs typeface="Times New Roman" panose="02020603050405020304" pitchFamily="18" charset="0"/>
              </a:rPr>
              <a:t>Compare processor and operating system categories to identify popular choices.</a:t>
            </a:r>
          </a:p>
          <a:p>
            <a:pPr lvl="0"/>
            <a:r>
              <a:rPr lang="en-US" dirty="0">
                <a:latin typeface="Times New Roman" panose="02020603050405020304" pitchFamily="18" charset="0"/>
                <a:cs typeface="Times New Roman" panose="02020603050405020304" pitchFamily="18" charset="0"/>
              </a:rPr>
              <a:t>Generate data-driven recommendations for customers and businesses.</a:t>
            </a:r>
          </a:p>
          <a:p>
            <a:endParaRPr lang="en-US" dirty="0"/>
          </a:p>
        </p:txBody>
      </p:sp>
    </p:spTree>
    <p:extLst>
      <p:ext uri="{BB962C8B-B14F-4D97-AF65-F5344CB8AC3E}">
        <p14:creationId xmlns:p14="http://schemas.microsoft.com/office/powerpoint/2010/main" val="4018811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E975F-448E-1E4C-A258-496DAC4A967C}"/>
              </a:ext>
            </a:extLst>
          </p:cNvPr>
          <p:cNvSpPr>
            <a:spLocks noGrp="1"/>
          </p:cNvSpPr>
          <p:nvPr>
            <p:ph type="title"/>
          </p:nvPr>
        </p:nvSpPr>
        <p:spPr/>
        <p:txBody>
          <a:bodyPr>
            <a:normAutofit/>
          </a:bodyPr>
          <a:lstStyle/>
          <a:p>
            <a:r>
              <a:rPr lang="en-US" sz="4000" b="1" dirty="0"/>
              <a:t>Introduction</a:t>
            </a:r>
            <a:r>
              <a:rPr lang="en-US" sz="4000" b="1" dirty="0">
                <a:latin typeface="Times New Roman" panose="02020603050405020304" pitchFamily="18" charset="0"/>
                <a:cs typeface="Times New Roman" panose="02020603050405020304" pitchFamily="18" charset="0"/>
              </a:rPr>
              <a:t>:</a:t>
            </a:r>
            <a:br>
              <a:rPr lang="en-US" b="1" dirty="0"/>
            </a:br>
            <a:endParaRPr lang="en-US" dirty="0"/>
          </a:p>
        </p:txBody>
      </p:sp>
      <p:sp>
        <p:nvSpPr>
          <p:cNvPr id="3" name="Text Placeholder 2">
            <a:extLst>
              <a:ext uri="{FF2B5EF4-FFF2-40B4-BE49-F238E27FC236}">
                <a16:creationId xmlns:a16="http://schemas.microsoft.com/office/drawing/2014/main" id="{EF7DCEBE-80E6-00BA-46F9-824AC1D7C45D}"/>
              </a:ext>
            </a:extLst>
          </p:cNvPr>
          <p:cNvSpPr>
            <a:spLocks noGrp="1"/>
          </p:cNvSpPr>
          <p:nvPr>
            <p:ph type="body" idx="1"/>
          </p:nvPr>
        </p:nvSpPr>
        <p:spPr>
          <a:xfrm>
            <a:off x="481781" y="1002890"/>
            <a:ext cx="10872019" cy="5174073"/>
          </a:xfrm>
        </p:spPr>
        <p:txBody>
          <a:bodyPr>
            <a:normAutofit/>
          </a:bodyPr>
          <a:lstStyle/>
          <a:p>
            <a:pPr algn="just"/>
            <a:r>
              <a:rPr lang="en-US" sz="2400" b="1" dirty="0"/>
              <a:t> </a:t>
            </a:r>
            <a:r>
              <a:rPr lang="en-US" sz="2400" dirty="0">
                <a:latin typeface="Times New Roman" panose="02020603050405020304" pitchFamily="18" charset="0"/>
                <a:cs typeface="Times New Roman" panose="02020603050405020304" pitchFamily="18" charset="0"/>
              </a:rPr>
              <a:t>Amazon offers a wide range of laptops from different brands and price segments.</a:t>
            </a:r>
          </a:p>
          <a:p>
            <a:pPr lvl="0"/>
            <a:r>
              <a:rPr lang="en-US" sz="2400" dirty="0">
                <a:latin typeface="Times New Roman" panose="02020603050405020304" pitchFamily="18" charset="0"/>
                <a:cs typeface="Times New Roman" panose="02020603050405020304" pitchFamily="18" charset="0"/>
              </a:rPr>
              <a:t>Each laptop has different RAM, ROM, processor, price, discount, and rating.</a:t>
            </a:r>
          </a:p>
          <a:p>
            <a:pPr lvl="0"/>
            <a:r>
              <a:rPr lang="en-US" sz="2400" dirty="0">
                <a:latin typeface="Times New Roman" panose="02020603050405020304" pitchFamily="18" charset="0"/>
                <a:cs typeface="Times New Roman" panose="02020603050405020304" pitchFamily="18" charset="0"/>
              </a:rPr>
              <a:t>This project analyzes 324 Amazon laptop records using data analytics.</a:t>
            </a:r>
          </a:p>
          <a:p>
            <a:pPr lvl="0"/>
            <a:r>
              <a:rPr lang="en-US" sz="2400" dirty="0">
                <a:latin typeface="Times New Roman" panose="02020603050405020304" pitchFamily="18" charset="0"/>
                <a:cs typeface="Times New Roman" panose="02020603050405020304" pitchFamily="18" charset="0"/>
              </a:rPr>
              <a:t>The analysis identifies product trends, pricing patterns, popular specifications, and customer ratings.</a:t>
            </a:r>
          </a:p>
          <a:p>
            <a:pPr lvl="0"/>
            <a:r>
              <a:rPr lang="en-US" sz="2400" dirty="0">
                <a:latin typeface="Times New Roman" panose="02020603050405020304" pitchFamily="18" charset="0"/>
                <a:cs typeface="Times New Roman" panose="02020603050405020304" pitchFamily="18" charset="0"/>
              </a:rPr>
              <a:t>The insights help customers make better purchasing decisions and businesses make data-driven decisions</a:t>
            </a:r>
            <a:r>
              <a:rPr lang="en-US" sz="2400" dirty="0"/>
              <a:t>.</a:t>
            </a:r>
            <a:endParaRPr lang="en-US" sz="26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322160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EC8D8-D3BB-885E-DB3E-928215ADEBA7}"/>
              </a:ext>
            </a:extLst>
          </p:cNvPr>
          <p:cNvSpPr>
            <a:spLocks noGrp="1"/>
          </p:cNvSpPr>
          <p:nvPr>
            <p:ph type="title"/>
          </p:nvPr>
        </p:nvSpPr>
        <p:spPr>
          <a:xfrm>
            <a:off x="403123" y="245806"/>
            <a:ext cx="11178048" cy="1221581"/>
          </a:xfrm>
        </p:spPr>
        <p:txBody>
          <a:bodyPr>
            <a:normAutofit/>
          </a:bodyPr>
          <a:lstStyle/>
          <a:p>
            <a:r>
              <a:rPr lang="en-IN" sz="4000" b="1" dirty="0">
                <a:latin typeface="Times New Roman" panose="02020603050405020304" pitchFamily="18" charset="0"/>
                <a:cs typeface="Times New Roman" panose="02020603050405020304" pitchFamily="18" charset="0"/>
              </a:rPr>
              <a:t>Data Description</a:t>
            </a:r>
            <a:r>
              <a:rPr lang="en-US" sz="4000" b="1" dirty="0">
                <a:latin typeface="Times New Roman" panose="02020603050405020304" pitchFamily="18" charset="0"/>
                <a:cs typeface="Times New Roman" panose="02020603050405020304" pitchFamily="18" charset="0"/>
              </a:rPr>
              <a:t>:</a:t>
            </a:r>
          </a:p>
        </p:txBody>
      </p:sp>
      <p:sp>
        <p:nvSpPr>
          <p:cNvPr id="3" name="Text Placeholder 2">
            <a:extLst>
              <a:ext uri="{FF2B5EF4-FFF2-40B4-BE49-F238E27FC236}">
                <a16:creationId xmlns:a16="http://schemas.microsoft.com/office/drawing/2014/main" id="{03CA7CFA-34F5-F3D7-09F6-1A08EA57090A}"/>
              </a:ext>
            </a:extLst>
          </p:cNvPr>
          <p:cNvSpPr>
            <a:spLocks noGrp="1"/>
          </p:cNvSpPr>
          <p:nvPr>
            <p:ph type="body" idx="1"/>
          </p:nvPr>
        </p:nvSpPr>
        <p:spPr>
          <a:xfrm>
            <a:off x="668594" y="1474839"/>
            <a:ext cx="10685206" cy="4702124"/>
          </a:xfrm>
        </p:spPr>
        <p:txBody>
          <a:bodyPr>
            <a:normAutofit/>
          </a:bodyPr>
          <a:lstStyle/>
          <a:p>
            <a:endParaRPr lang="en-US" dirty="0"/>
          </a:p>
        </p:txBody>
      </p:sp>
      <p:pic>
        <p:nvPicPr>
          <p:cNvPr id="5" name="Picture 4">
            <a:extLst>
              <a:ext uri="{FF2B5EF4-FFF2-40B4-BE49-F238E27FC236}">
                <a16:creationId xmlns:a16="http://schemas.microsoft.com/office/drawing/2014/main" id="{131E99FF-63AC-6300-BE62-E2F433785F39}"/>
              </a:ext>
            </a:extLst>
          </p:cNvPr>
          <p:cNvPicPr>
            <a:picLocks noChangeAspect="1"/>
          </p:cNvPicPr>
          <p:nvPr/>
        </p:nvPicPr>
        <p:blipFill>
          <a:blip r:embed="rId2"/>
          <a:stretch>
            <a:fillRect/>
          </a:stretch>
        </p:blipFill>
        <p:spPr>
          <a:xfrm>
            <a:off x="877784" y="1576062"/>
            <a:ext cx="10166136" cy="3807100"/>
          </a:xfrm>
          <a:prstGeom prst="rect">
            <a:avLst/>
          </a:prstGeom>
        </p:spPr>
      </p:pic>
    </p:spTree>
    <p:extLst>
      <p:ext uri="{BB962C8B-B14F-4D97-AF65-F5344CB8AC3E}">
        <p14:creationId xmlns:p14="http://schemas.microsoft.com/office/powerpoint/2010/main" val="2256156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1E102-77AC-65C5-28E6-61CA86F0546C}"/>
              </a:ext>
            </a:extLst>
          </p:cNvPr>
          <p:cNvSpPr>
            <a:spLocks noGrp="1"/>
          </p:cNvSpPr>
          <p:nvPr>
            <p:ph type="title"/>
          </p:nvPr>
        </p:nvSpPr>
        <p:spPr>
          <a:xfrm>
            <a:off x="707923" y="681037"/>
            <a:ext cx="10645877" cy="1009651"/>
          </a:xfrm>
        </p:spPr>
        <p:txBody>
          <a:bodyPr>
            <a:normAutofit fontScale="90000"/>
          </a:bodyPr>
          <a:lstStyle/>
          <a:p>
            <a:r>
              <a:rPr lang="en-US" sz="4000" b="1" dirty="0">
                <a:latin typeface="Times New Roman" panose="02020603050405020304" pitchFamily="18" charset="0"/>
                <a:cs typeface="Times New Roman" panose="02020603050405020304" pitchFamily="18" charset="0"/>
              </a:rPr>
              <a:t>Data Cleaning:</a:t>
            </a:r>
            <a:br>
              <a:rPr lang="en-US" b="1" dirty="0">
                <a:latin typeface="Times New Roman" panose="02020603050405020304" pitchFamily="18" charset="0"/>
                <a:cs typeface="Times New Roman" panose="02020603050405020304" pitchFamily="18" charset="0"/>
              </a:rPr>
            </a:br>
            <a:endParaRPr lang="en-US" dirty="0"/>
          </a:p>
        </p:txBody>
      </p:sp>
      <p:sp>
        <p:nvSpPr>
          <p:cNvPr id="3" name="Text Placeholder 2">
            <a:extLst>
              <a:ext uri="{FF2B5EF4-FFF2-40B4-BE49-F238E27FC236}">
                <a16:creationId xmlns:a16="http://schemas.microsoft.com/office/drawing/2014/main" id="{9E8A021B-BE12-F312-0B89-5CA75B3A1058}"/>
              </a:ext>
            </a:extLst>
          </p:cNvPr>
          <p:cNvSpPr>
            <a:spLocks noGrp="1"/>
          </p:cNvSpPr>
          <p:nvPr>
            <p:ph type="body" idx="1"/>
          </p:nvPr>
        </p:nvSpPr>
        <p:spPr>
          <a:xfrm>
            <a:off x="619432" y="1317523"/>
            <a:ext cx="10734368" cy="4859440"/>
          </a:xfrm>
        </p:spPr>
        <p:txBody>
          <a:bodyPr/>
          <a:lstStyle/>
          <a:p>
            <a:pPr lvl="0"/>
            <a:r>
              <a:rPr lang="en-US" sz="2400" dirty="0">
                <a:latin typeface="Times New Roman" panose="02020603050405020304" pitchFamily="18" charset="0"/>
                <a:cs typeface="Times New Roman" panose="02020603050405020304" pitchFamily="18" charset="0"/>
              </a:rPr>
              <a:t>Removed missing values from the dataset.</a:t>
            </a:r>
          </a:p>
          <a:p>
            <a:pPr lvl="0"/>
            <a:r>
              <a:rPr lang="en-US" sz="2400" dirty="0">
                <a:latin typeface="Times New Roman" panose="02020603050405020304" pitchFamily="18" charset="0"/>
                <a:cs typeface="Times New Roman" panose="02020603050405020304" pitchFamily="18" charset="0"/>
              </a:rPr>
              <a:t>Checked and removed duplicate records.</a:t>
            </a:r>
          </a:p>
          <a:p>
            <a:pPr lvl="0"/>
            <a:r>
              <a:rPr lang="en-US" sz="2400" dirty="0">
                <a:latin typeface="Times New Roman" panose="02020603050405020304" pitchFamily="18" charset="0"/>
                <a:cs typeface="Times New Roman" panose="02020603050405020304" pitchFamily="18" charset="0"/>
              </a:rPr>
              <a:t>Removed unwanted symbols and commas.</a:t>
            </a:r>
          </a:p>
          <a:p>
            <a:pPr lvl="0"/>
            <a:r>
              <a:rPr lang="en-US" sz="2400" dirty="0">
                <a:latin typeface="Times New Roman" panose="02020603050405020304" pitchFamily="18" charset="0"/>
                <a:cs typeface="Times New Roman" panose="02020603050405020304" pitchFamily="18" charset="0"/>
              </a:rPr>
              <a:t>Converted Price, Rating, RAM, ROM, and Discount into numeric formats.</a:t>
            </a:r>
          </a:p>
          <a:p>
            <a:pPr lvl="0"/>
            <a:r>
              <a:rPr lang="en-US" sz="2400" dirty="0">
                <a:latin typeface="Times New Roman" panose="02020603050405020304" pitchFamily="18" charset="0"/>
                <a:cs typeface="Times New Roman" panose="02020603050405020304" pitchFamily="18" charset="0"/>
              </a:rPr>
              <a:t>Standardized data types and formats.</a:t>
            </a:r>
          </a:p>
          <a:p>
            <a:pPr lvl="0"/>
            <a:r>
              <a:rPr lang="en-US" sz="2400" dirty="0">
                <a:latin typeface="Times New Roman" panose="02020603050405020304" pitchFamily="18" charset="0"/>
                <a:cs typeface="Times New Roman" panose="02020603050405020304" pitchFamily="18" charset="0"/>
              </a:rPr>
              <a:t>Prepared the final dataset of 324 records and 10 columns for EDA.</a:t>
            </a:r>
          </a:p>
          <a:p>
            <a:endParaRPr lang="en-US" dirty="0"/>
          </a:p>
        </p:txBody>
      </p:sp>
    </p:spTree>
    <p:extLst>
      <p:ext uri="{BB962C8B-B14F-4D97-AF65-F5344CB8AC3E}">
        <p14:creationId xmlns:p14="http://schemas.microsoft.com/office/powerpoint/2010/main" val="731068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B7D10-9C68-62D1-CD36-F79C82EA0D37}"/>
              </a:ext>
            </a:extLst>
          </p:cNvPr>
          <p:cNvSpPr>
            <a:spLocks noGrp="1"/>
          </p:cNvSpPr>
          <p:nvPr>
            <p:ph type="title"/>
          </p:nvPr>
        </p:nvSpPr>
        <p:spPr>
          <a:xfrm>
            <a:off x="511277" y="365126"/>
            <a:ext cx="10842523" cy="1149042"/>
          </a:xfrm>
        </p:spPr>
        <p:txBody>
          <a:bodyPr>
            <a:normAutofit fontScale="90000"/>
          </a:bodyPr>
          <a:lstStyle/>
          <a:p>
            <a:r>
              <a:rPr lang="en-US" b="1" dirty="0">
                <a:latin typeface="Times New Roman" panose="02020603050405020304" pitchFamily="18" charset="0"/>
                <a:cs typeface="Times New Roman" panose="02020603050405020304" pitchFamily="18" charset="0"/>
              </a:rPr>
              <a:t>Univariate Analysis</a:t>
            </a:r>
            <a:br>
              <a:rPr lang="en-US" dirty="0"/>
            </a:br>
            <a:r>
              <a:rPr lang="en-US" sz="3600" b="1" dirty="0">
                <a:latin typeface="Times New Roman" panose="02020603050405020304" pitchFamily="18" charset="0"/>
                <a:cs typeface="Times New Roman" panose="02020603050405020304" pitchFamily="18" charset="0"/>
              </a:rPr>
              <a:t>Laptop Count by Brand:</a:t>
            </a:r>
          </a:p>
        </p:txBody>
      </p:sp>
      <p:sp>
        <p:nvSpPr>
          <p:cNvPr id="3" name="Text Placeholder 2">
            <a:extLst>
              <a:ext uri="{FF2B5EF4-FFF2-40B4-BE49-F238E27FC236}">
                <a16:creationId xmlns:a16="http://schemas.microsoft.com/office/drawing/2014/main" id="{A2CB0F19-000B-24C3-631C-69E569A51A37}"/>
              </a:ext>
            </a:extLst>
          </p:cNvPr>
          <p:cNvSpPr>
            <a:spLocks noGrp="1"/>
          </p:cNvSpPr>
          <p:nvPr>
            <p:ph type="body" idx="1"/>
          </p:nvPr>
        </p:nvSpPr>
        <p:spPr>
          <a:xfrm>
            <a:off x="511276" y="1750141"/>
            <a:ext cx="10360743" cy="3922637"/>
          </a:xfrm>
        </p:spPr>
        <p:txBody>
          <a:bodyPr>
            <a:normAutofit/>
          </a:bodyPr>
          <a:lstStyle/>
          <a:p>
            <a:pPr marL="114300" indent="0">
              <a:buNone/>
            </a:pPr>
            <a:endParaRPr lang="en-US" sz="2000" b="1" dirty="0">
              <a:latin typeface="Times New Roman" panose="02020603050405020304" pitchFamily="18" charset="0"/>
              <a:cs typeface="Times New Roman" panose="02020603050405020304" pitchFamily="18" charset="0"/>
            </a:endParaRPr>
          </a:p>
          <a:p>
            <a:pPr marL="114300" indent="0">
              <a:buNone/>
            </a:pPr>
            <a:endParaRPr lang="en-US" sz="2000" b="1" dirty="0">
              <a:latin typeface="Times New Roman" panose="02020603050405020304" pitchFamily="18" charset="0"/>
              <a:cs typeface="Times New Roman" panose="02020603050405020304" pitchFamily="18" charset="0"/>
            </a:endParaRPr>
          </a:p>
          <a:p>
            <a:pPr marL="114300" indent="0">
              <a:buNone/>
            </a:pPr>
            <a:endParaRPr lang="en-US" sz="2000" b="1" dirty="0">
              <a:latin typeface="Times New Roman" panose="02020603050405020304" pitchFamily="18" charset="0"/>
              <a:cs typeface="Times New Roman" panose="02020603050405020304" pitchFamily="18" charset="0"/>
            </a:endParaRPr>
          </a:p>
          <a:p>
            <a:pPr marL="114300" indent="0">
              <a:buNone/>
            </a:pPr>
            <a:endParaRPr lang="en-US" sz="2000" b="1" dirty="0">
              <a:latin typeface="Times New Roman" panose="02020603050405020304" pitchFamily="18" charset="0"/>
              <a:cs typeface="Times New Roman" panose="02020603050405020304" pitchFamily="18" charset="0"/>
            </a:endParaRPr>
          </a:p>
          <a:p>
            <a:pPr marL="114300" indent="0">
              <a:buNone/>
            </a:pPr>
            <a:endParaRPr lang="en-US" sz="2000" b="1" dirty="0">
              <a:latin typeface="Times New Roman" panose="02020603050405020304" pitchFamily="18" charset="0"/>
              <a:cs typeface="Times New Roman" panose="02020603050405020304" pitchFamily="18" charset="0"/>
            </a:endParaRPr>
          </a:p>
          <a:p>
            <a:pPr marL="114300" indent="0">
              <a:buNone/>
            </a:pPr>
            <a:endParaRPr lang="en-US" sz="2000" b="1" dirty="0">
              <a:latin typeface="Times New Roman" panose="02020603050405020304" pitchFamily="18" charset="0"/>
              <a:cs typeface="Times New Roman" panose="02020603050405020304" pitchFamily="18" charset="0"/>
            </a:endParaRPr>
          </a:p>
          <a:p>
            <a:pPr marL="114300" indent="0">
              <a:buNone/>
            </a:pPr>
            <a:endParaRPr lang="en-US" sz="2000" b="1" dirty="0">
              <a:latin typeface="Times New Roman" panose="02020603050405020304" pitchFamily="18" charset="0"/>
              <a:cs typeface="Times New Roman" panose="02020603050405020304" pitchFamily="18" charset="0"/>
            </a:endParaRPr>
          </a:p>
          <a:p>
            <a:pPr marL="114300" indent="0">
              <a:buNone/>
            </a:pPr>
            <a:endParaRPr lang="en-US" sz="2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A382B79-660E-B676-E868-CE653D1D4E17}"/>
              </a:ext>
            </a:extLst>
          </p:cNvPr>
          <p:cNvPicPr>
            <a:picLocks noChangeAspect="1"/>
          </p:cNvPicPr>
          <p:nvPr/>
        </p:nvPicPr>
        <p:blipFill>
          <a:blip r:embed="rId2"/>
          <a:stretch>
            <a:fillRect/>
          </a:stretch>
        </p:blipFill>
        <p:spPr>
          <a:xfrm>
            <a:off x="6096000" y="1626241"/>
            <a:ext cx="5128534" cy="4462397"/>
          </a:xfrm>
          <a:prstGeom prst="rect">
            <a:avLst/>
          </a:prstGeom>
        </p:spPr>
      </p:pic>
      <p:sp>
        <p:nvSpPr>
          <p:cNvPr id="7" name="TextBox 6">
            <a:extLst>
              <a:ext uri="{FF2B5EF4-FFF2-40B4-BE49-F238E27FC236}">
                <a16:creationId xmlns:a16="http://schemas.microsoft.com/office/drawing/2014/main" id="{3258A59C-AF22-67B1-939E-EED14AECF459}"/>
              </a:ext>
            </a:extLst>
          </p:cNvPr>
          <p:cNvSpPr txBox="1"/>
          <p:nvPr/>
        </p:nvSpPr>
        <p:spPr>
          <a:xfrm>
            <a:off x="511276" y="1750141"/>
            <a:ext cx="5232210" cy="3046988"/>
          </a:xfrm>
          <a:prstGeom prst="rect">
            <a:avLst/>
          </a:prstGeom>
          <a:noFill/>
        </p:spPr>
        <p:txBody>
          <a:bodyPr wrap="square">
            <a:spAutoFit/>
          </a:bodyPr>
          <a:lstStyle/>
          <a:p>
            <a:pPr marL="342900" indent="-3429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HP and Lenovo lead the dataset</a:t>
            </a:r>
          </a:p>
          <a:p>
            <a:r>
              <a:rPr lang="en-US" sz="2400" dirty="0">
                <a:latin typeface="Times New Roman" panose="02020603050405020304" pitchFamily="18" charset="0"/>
                <a:cs typeface="Times New Roman" panose="02020603050405020304" pitchFamily="18" charset="0"/>
              </a:rPr>
              <a:t>(~95 and ~86 laptops).</a:t>
            </a:r>
          </a:p>
          <a:p>
            <a:r>
              <a:rPr lang="en-US" sz="2400" dirty="0">
                <a:latin typeface="Times New Roman" panose="02020603050405020304" pitchFamily="18" charset="0"/>
                <a:cs typeface="Times New Roman" panose="02020603050405020304" pitchFamily="18" charset="0"/>
              </a:rPr>
              <a:t>Most other brands have very few, and             brand names</a:t>
            </a:r>
          </a:p>
          <a:p>
            <a:r>
              <a:rPr lang="en-US" sz="2400" dirty="0">
                <a:latin typeface="Times New Roman" panose="02020603050405020304" pitchFamily="18" charset="0"/>
                <a:cs typeface="Times New Roman" panose="02020603050405020304" pitchFamily="18" charset="0"/>
              </a:rPr>
              <a:t>need cleaning. Because of this imbalance, </a:t>
            </a:r>
          </a:p>
          <a:p>
            <a:r>
              <a:rPr lang="en-US" sz="2400" dirty="0">
                <a:latin typeface="Times New Roman" panose="02020603050405020304" pitchFamily="18" charset="0"/>
                <a:cs typeface="Times New Roman" panose="02020603050405020304" pitchFamily="18" charset="0"/>
              </a:rPr>
              <a:t>brand price averages should be interpreted with caution</a:t>
            </a:r>
          </a:p>
        </p:txBody>
      </p:sp>
    </p:spTree>
    <p:extLst>
      <p:ext uri="{BB962C8B-B14F-4D97-AF65-F5344CB8AC3E}">
        <p14:creationId xmlns:p14="http://schemas.microsoft.com/office/powerpoint/2010/main" val="8591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2A2B9-1E18-E9E6-1D39-9FD8857603B4}"/>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Discount Distribution:</a:t>
            </a:r>
          </a:p>
        </p:txBody>
      </p:sp>
      <p:sp>
        <p:nvSpPr>
          <p:cNvPr id="3" name="Text Placeholder 2">
            <a:extLst>
              <a:ext uri="{FF2B5EF4-FFF2-40B4-BE49-F238E27FC236}">
                <a16:creationId xmlns:a16="http://schemas.microsoft.com/office/drawing/2014/main" id="{844BEDC2-02BC-24E9-E80C-0BFFFB02147C}"/>
              </a:ext>
            </a:extLst>
          </p:cNvPr>
          <p:cNvSpPr>
            <a:spLocks noGrp="1"/>
          </p:cNvSpPr>
          <p:nvPr>
            <p:ph type="body" idx="1"/>
          </p:nvPr>
        </p:nvSpPr>
        <p:spPr/>
        <p:txBody>
          <a:bodyPr>
            <a:normAutofit lnSpcReduction="10000"/>
          </a:bodyPr>
          <a:lstStyle/>
          <a:p>
            <a:pPr>
              <a:buFont typeface="Wingdings" panose="05000000000000000000" pitchFamily="2" charset="2"/>
              <a:buChar char="Ø"/>
            </a:pPr>
            <a:r>
              <a:rPr lang="en-US" dirty="0"/>
              <a:t>Most discounts fall between 20%</a:t>
            </a:r>
          </a:p>
          <a:p>
            <a:pPr marL="114300" indent="0">
              <a:buNone/>
            </a:pPr>
            <a:r>
              <a:rPr lang="en-US" dirty="0"/>
              <a:t> and 45%, peaking at about 25 to </a:t>
            </a:r>
          </a:p>
          <a:p>
            <a:pPr marL="114300" indent="0">
              <a:buNone/>
            </a:pPr>
            <a:r>
              <a:rPr lang="en-US" dirty="0"/>
              <a:t>30%. Very high discounts </a:t>
            </a:r>
          </a:p>
          <a:p>
            <a:pPr marL="114300" indent="0">
              <a:buNone/>
            </a:pPr>
            <a:r>
              <a:rPr lang="en-US" dirty="0"/>
              <a:t>(above 55%) are rare. </a:t>
            </a:r>
          </a:p>
          <a:p>
            <a:pPr marL="114300" indent="0">
              <a:buNone/>
            </a:pPr>
            <a:r>
              <a:rPr lang="en-US" dirty="0"/>
              <a:t>The distribution is roughly </a:t>
            </a:r>
          </a:p>
          <a:p>
            <a:pPr marL="114300" indent="0">
              <a:buNone/>
            </a:pPr>
            <a:r>
              <a:rPr lang="en-US" dirty="0"/>
              <a:t>bell-shaped with a slight</a:t>
            </a:r>
          </a:p>
          <a:p>
            <a:pPr marL="114300" indent="0">
              <a:buNone/>
            </a:pPr>
            <a:r>
              <a:rPr lang="en-US" dirty="0"/>
              <a:t> right skew, so most laptops get </a:t>
            </a:r>
          </a:p>
          <a:p>
            <a:pPr marL="114300" indent="0">
              <a:buNone/>
            </a:pPr>
            <a:r>
              <a:rPr lang="en-US" dirty="0"/>
              <a:t>moderate discounts rather than </a:t>
            </a:r>
          </a:p>
          <a:p>
            <a:pPr marL="114300" indent="0">
              <a:buNone/>
            </a:pPr>
            <a:r>
              <a:rPr lang="en-US" dirty="0"/>
              <a:t>extreme ones.</a:t>
            </a:r>
          </a:p>
        </p:txBody>
      </p:sp>
      <p:pic>
        <p:nvPicPr>
          <p:cNvPr id="5" name="Picture 4">
            <a:extLst>
              <a:ext uri="{FF2B5EF4-FFF2-40B4-BE49-F238E27FC236}">
                <a16:creationId xmlns:a16="http://schemas.microsoft.com/office/drawing/2014/main" id="{7C9173CF-79EB-6211-38C6-51310D0DCBAD}"/>
              </a:ext>
            </a:extLst>
          </p:cNvPr>
          <p:cNvPicPr>
            <a:picLocks noChangeAspect="1"/>
          </p:cNvPicPr>
          <p:nvPr/>
        </p:nvPicPr>
        <p:blipFill>
          <a:blip r:embed="rId2"/>
          <a:stretch>
            <a:fillRect/>
          </a:stretch>
        </p:blipFill>
        <p:spPr>
          <a:xfrm>
            <a:off x="6548284" y="1917667"/>
            <a:ext cx="5312508" cy="4167253"/>
          </a:xfrm>
          <a:prstGeom prst="rect">
            <a:avLst/>
          </a:prstGeom>
        </p:spPr>
      </p:pic>
    </p:spTree>
    <p:extLst>
      <p:ext uri="{BB962C8B-B14F-4D97-AF65-F5344CB8AC3E}">
        <p14:creationId xmlns:p14="http://schemas.microsoft.com/office/powerpoint/2010/main" val="946836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9EAB7-76D3-E220-974A-06E3FDE74420}"/>
              </a:ext>
            </a:extLst>
          </p:cNvPr>
          <p:cNvSpPr>
            <a:spLocks noGrp="1"/>
          </p:cNvSpPr>
          <p:nvPr>
            <p:ph type="title"/>
          </p:nvPr>
        </p:nvSpPr>
        <p:spPr>
          <a:xfrm>
            <a:off x="698090" y="285135"/>
            <a:ext cx="10655710" cy="1405553"/>
          </a:xfrm>
        </p:spPr>
        <p:txBody>
          <a:bodyPr>
            <a:normAutofit fontScale="90000"/>
          </a:bodyPr>
          <a:lstStyle/>
          <a:p>
            <a:r>
              <a:rPr lang="en-US" b="1" dirty="0">
                <a:latin typeface="Times New Roman" panose="02020603050405020304" pitchFamily="18" charset="0"/>
                <a:cs typeface="Times New Roman" panose="02020603050405020304" pitchFamily="18" charset="0"/>
              </a:rPr>
              <a:t>Bivariate Analysis:</a:t>
            </a:r>
            <a:br>
              <a:rPr lang="en-US"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Discount VS Rating:</a:t>
            </a:r>
          </a:p>
        </p:txBody>
      </p:sp>
      <p:sp>
        <p:nvSpPr>
          <p:cNvPr id="3" name="Text Placeholder 2">
            <a:extLst>
              <a:ext uri="{FF2B5EF4-FFF2-40B4-BE49-F238E27FC236}">
                <a16:creationId xmlns:a16="http://schemas.microsoft.com/office/drawing/2014/main" id="{F9CDF145-86C5-4711-05B9-353836E02F68}"/>
              </a:ext>
            </a:extLst>
          </p:cNvPr>
          <p:cNvSpPr>
            <a:spLocks noGrp="1"/>
          </p:cNvSpPr>
          <p:nvPr>
            <p:ph type="body" idx="1"/>
          </p:nvPr>
        </p:nvSpPr>
        <p:spPr/>
        <p:txBody>
          <a:bodyPr/>
          <a:lstStyle/>
          <a:p>
            <a:pPr>
              <a:buFont typeface="Wingdings" panose="05000000000000000000" pitchFamily="2" charset="2"/>
              <a:buChar char="Ø"/>
            </a:pPr>
            <a:r>
              <a:rPr lang="en-US" dirty="0"/>
              <a:t>Ratings stay mostly between 3.5</a:t>
            </a:r>
          </a:p>
          <a:p>
            <a:pPr marL="114300" indent="0">
              <a:buNone/>
            </a:pPr>
            <a:r>
              <a:rPr lang="en-US" dirty="0"/>
              <a:t>and 4.5 at every discount level,</a:t>
            </a:r>
          </a:p>
          <a:p>
            <a:pPr marL="114300" indent="0">
              <a:buNone/>
            </a:pPr>
            <a:r>
              <a:rPr lang="en-US" dirty="0"/>
              <a:t> so discount has no clear link with </a:t>
            </a:r>
          </a:p>
          <a:p>
            <a:pPr marL="114300" indent="0">
              <a:buNone/>
            </a:pPr>
            <a:r>
              <a:rPr lang="en-US" dirty="0"/>
              <a:t>rating. A few low-rated outliers</a:t>
            </a:r>
          </a:p>
          <a:p>
            <a:pPr marL="114300" indent="0">
              <a:buNone/>
            </a:pPr>
            <a:r>
              <a:rPr lang="en-US" dirty="0"/>
              <a:t>(1.0 to 2.5) appear across the</a:t>
            </a:r>
          </a:p>
          <a:p>
            <a:pPr marL="114300" indent="0">
              <a:buNone/>
            </a:pPr>
            <a:r>
              <a:rPr lang="en-US" dirty="0"/>
              <a:t>range. Customers seem to rate </a:t>
            </a:r>
          </a:p>
          <a:p>
            <a:pPr marL="114300" indent="0">
              <a:buNone/>
            </a:pPr>
            <a:r>
              <a:rPr lang="en-US" dirty="0"/>
              <a:t>laptops on quality and performance</a:t>
            </a:r>
          </a:p>
          <a:p>
            <a:pPr marL="114300" indent="0">
              <a:buNone/>
            </a:pPr>
            <a:r>
              <a:rPr lang="en-US" dirty="0"/>
              <a:t> rather than on how much discount they got.</a:t>
            </a:r>
          </a:p>
          <a:p>
            <a:pPr>
              <a:buFont typeface="Wingdings" panose="05000000000000000000" pitchFamily="2" charset="2"/>
              <a:buChar char="Ø"/>
            </a:pPr>
            <a:endParaRPr lang="en-US" dirty="0"/>
          </a:p>
        </p:txBody>
      </p:sp>
      <p:pic>
        <p:nvPicPr>
          <p:cNvPr id="9" name="Picture 8">
            <a:extLst>
              <a:ext uri="{FF2B5EF4-FFF2-40B4-BE49-F238E27FC236}">
                <a16:creationId xmlns:a16="http://schemas.microsoft.com/office/drawing/2014/main" id="{7DFB57BC-E491-6F6B-1AA7-FD586B15AD21}"/>
              </a:ext>
            </a:extLst>
          </p:cNvPr>
          <p:cNvPicPr>
            <a:picLocks noChangeAspect="1"/>
          </p:cNvPicPr>
          <p:nvPr/>
        </p:nvPicPr>
        <p:blipFill>
          <a:blip r:embed="rId2"/>
          <a:stretch>
            <a:fillRect/>
          </a:stretch>
        </p:blipFill>
        <p:spPr>
          <a:xfrm>
            <a:off x="6235419" y="1500290"/>
            <a:ext cx="5848425" cy="4054936"/>
          </a:xfrm>
          <a:prstGeom prst="rect">
            <a:avLst/>
          </a:prstGeom>
        </p:spPr>
      </p:pic>
    </p:spTree>
    <p:extLst>
      <p:ext uri="{BB962C8B-B14F-4D97-AF65-F5344CB8AC3E}">
        <p14:creationId xmlns:p14="http://schemas.microsoft.com/office/powerpoint/2010/main" val="2852593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C413C-7803-D8C2-863F-A48E3231B46B}"/>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Price VS ROM:</a:t>
            </a:r>
          </a:p>
        </p:txBody>
      </p:sp>
      <p:sp>
        <p:nvSpPr>
          <p:cNvPr id="3" name="Text Placeholder 2">
            <a:extLst>
              <a:ext uri="{FF2B5EF4-FFF2-40B4-BE49-F238E27FC236}">
                <a16:creationId xmlns:a16="http://schemas.microsoft.com/office/drawing/2014/main" id="{60672BD0-726B-B3E4-618E-A9CA3E966DD1}"/>
              </a:ext>
            </a:extLst>
          </p:cNvPr>
          <p:cNvSpPr>
            <a:spLocks noGrp="1"/>
          </p:cNvSpPr>
          <p:nvPr>
            <p:ph type="body" idx="1"/>
          </p:nvPr>
        </p:nvSpPr>
        <p:spPr>
          <a:xfrm>
            <a:off x="462116" y="1690688"/>
            <a:ext cx="10891684" cy="4486275"/>
          </a:xfrm>
        </p:spPr>
        <p:txBody>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Price rises with ROM: 64 to 128 GB</a:t>
            </a:r>
          </a:p>
          <a:p>
            <a:pPr marL="114300" indent="0">
              <a:buNone/>
            </a:pPr>
            <a:r>
              <a:rPr lang="en-US" sz="2400" dirty="0">
                <a:latin typeface="Times New Roman" panose="02020603050405020304" pitchFamily="18" charset="0"/>
                <a:cs typeface="Times New Roman" panose="02020603050405020304" pitchFamily="18" charset="0"/>
              </a:rPr>
              <a:t> laptops are cheapest, 1024 GB</a:t>
            </a:r>
          </a:p>
          <a:p>
            <a:pPr marL="114300" indent="0">
              <a:buNone/>
            </a:pPr>
            <a:r>
              <a:rPr lang="en-US" sz="2400" dirty="0">
                <a:latin typeface="Times New Roman" panose="02020603050405020304" pitchFamily="18" charset="0"/>
                <a:cs typeface="Times New Roman" panose="02020603050405020304" pitchFamily="18" charset="0"/>
              </a:rPr>
              <a:t>costs about 1 to 2.5 lakh, and 2048 GB</a:t>
            </a:r>
          </a:p>
          <a:p>
            <a:pPr marL="114300" indent="0">
              <a:buNone/>
            </a:pPr>
            <a:r>
              <a:rPr lang="en-US" sz="2400" dirty="0">
                <a:latin typeface="Times New Roman" panose="02020603050405020304" pitchFamily="18" charset="0"/>
                <a:cs typeface="Times New Roman" panose="02020603050405020304" pitchFamily="18" charset="0"/>
              </a:rPr>
              <a:t>is the most expensive (about 4.5 to 5 lakh)</a:t>
            </a:r>
          </a:p>
          <a:p>
            <a:pPr marL="114300" indent="0">
              <a:buNone/>
            </a:pPr>
            <a:endParaRPr lang="en-US" dirty="0"/>
          </a:p>
        </p:txBody>
      </p:sp>
      <p:pic>
        <p:nvPicPr>
          <p:cNvPr id="11" name="Picture 10">
            <a:extLst>
              <a:ext uri="{FF2B5EF4-FFF2-40B4-BE49-F238E27FC236}">
                <a16:creationId xmlns:a16="http://schemas.microsoft.com/office/drawing/2014/main" id="{3CDEC00F-1D11-B0B8-A1DB-E75FD9C9AD0C}"/>
              </a:ext>
            </a:extLst>
          </p:cNvPr>
          <p:cNvPicPr>
            <a:picLocks noChangeAspect="1"/>
          </p:cNvPicPr>
          <p:nvPr/>
        </p:nvPicPr>
        <p:blipFill>
          <a:blip r:embed="rId2"/>
          <a:stretch>
            <a:fillRect/>
          </a:stretch>
        </p:blipFill>
        <p:spPr>
          <a:xfrm>
            <a:off x="5811277" y="1358948"/>
            <a:ext cx="6149541" cy="4520743"/>
          </a:xfrm>
          <a:prstGeom prst="rect">
            <a:avLst/>
          </a:prstGeom>
        </p:spPr>
      </p:pic>
    </p:spTree>
    <p:extLst>
      <p:ext uri="{BB962C8B-B14F-4D97-AF65-F5344CB8AC3E}">
        <p14:creationId xmlns:p14="http://schemas.microsoft.com/office/powerpoint/2010/main" val="1338888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CF381-5682-03E6-CE3E-F3439272F583}"/>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Multivariate Analysis:</a:t>
            </a:r>
            <a:br>
              <a:rPr lang="en-US"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Price , Rating , Brand and Discount:</a:t>
            </a:r>
          </a:p>
        </p:txBody>
      </p:sp>
      <p:sp>
        <p:nvSpPr>
          <p:cNvPr id="3" name="Text Placeholder 2">
            <a:extLst>
              <a:ext uri="{FF2B5EF4-FFF2-40B4-BE49-F238E27FC236}">
                <a16:creationId xmlns:a16="http://schemas.microsoft.com/office/drawing/2014/main" id="{A2AE809A-0C4A-C9B6-9ADC-D7A451C3F843}"/>
              </a:ext>
            </a:extLst>
          </p:cNvPr>
          <p:cNvSpPr>
            <a:spLocks noGrp="1"/>
          </p:cNvSpPr>
          <p:nvPr>
            <p:ph type="body" idx="1"/>
          </p:nvPr>
        </p:nvSpPr>
        <p:spPr/>
        <p:txBody>
          <a:bodyPr>
            <a:normAutofit/>
          </a:bodyPr>
          <a:lstStyle/>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Most laptops cost under 2 lakh and</a:t>
            </a:r>
          </a:p>
          <a:p>
            <a:pPr marL="114300" indent="0">
              <a:buNone/>
            </a:pPr>
            <a:r>
              <a:rPr lang="en-US" sz="2400" dirty="0">
                <a:latin typeface="Times New Roman" panose="02020603050405020304" pitchFamily="18" charset="0"/>
                <a:cs typeface="Times New Roman" panose="02020603050405020304" pitchFamily="18" charset="0"/>
              </a:rPr>
              <a:t>are rated 3.5 to 5.0 across all brands. </a:t>
            </a:r>
          </a:p>
          <a:p>
            <a:pPr marL="114300" indent="0">
              <a:buNone/>
            </a:pPr>
            <a:r>
              <a:rPr lang="en-US" sz="2400" dirty="0">
                <a:latin typeface="Times New Roman" panose="02020603050405020304" pitchFamily="18" charset="0"/>
                <a:cs typeface="Times New Roman" panose="02020603050405020304" pitchFamily="18" charset="0"/>
              </a:rPr>
              <a:t>Brand and discount show no clear</a:t>
            </a:r>
          </a:p>
          <a:p>
            <a:pPr marL="114300" indent="0">
              <a:buNone/>
            </a:pPr>
            <a:r>
              <a:rPr lang="en-US" sz="2400" dirty="0">
                <a:latin typeface="Times New Roman" panose="02020603050405020304" pitchFamily="18" charset="0"/>
                <a:cs typeface="Times New Roman" panose="02020603050405020304" pitchFamily="18" charset="0"/>
              </a:rPr>
              <a:t>link with rating, and bigger discounts </a:t>
            </a:r>
          </a:p>
          <a:p>
            <a:pPr marL="114300" indent="0">
              <a:buNone/>
            </a:pPr>
            <a:r>
              <a:rPr lang="en-US" sz="2400" dirty="0">
                <a:latin typeface="Times New Roman" panose="02020603050405020304" pitchFamily="18" charset="0"/>
                <a:cs typeface="Times New Roman" panose="02020603050405020304" pitchFamily="18" charset="0"/>
              </a:rPr>
              <a:t>mostly appear at lower prices. </a:t>
            </a:r>
          </a:p>
          <a:p>
            <a:pPr marL="114300" indent="0">
              <a:buNone/>
            </a:pPr>
            <a:r>
              <a:rPr lang="en-US" sz="2400" dirty="0">
                <a:latin typeface="Times New Roman" panose="02020603050405020304" pitchFamily="18" charset="0"/>
                <a:cs typeface="Times New Roman" panose="02020603050405020304" pitchFamily="18" charset="0"/>
              </a:rPr>
              <a:t>The legend is crowded, so </a:t>
            </a:r>
          </a:p>
          <a:p>
            <a:pPr marL="114300" indent="0">
              <a:buNone/>
            </a:pPr>
            <a:r>
              <a:rPr lang="en-US" sz="2400" dirty="0">
                <a:latin typeface="Times New Roman" panose="02020603050405020304" pitchFamily="18" charset="0"/>
                <a:cs typeface="Times New Roman" panose="02020603050405020304" pitchFamily="18" charset="0"/>
              </a:rPr>
              <a:t>group small brands as “Other”.</a:t>
            </a:r>
          </a:p>
        </p:txBody>
      </p:sp>
      <p:pic>
        <p:nvPicPr>
          <p:cNvPr id="5" name="Picture 4">
            <a:extLst>
              <a:ext uri="{FF2B5EF4-FFF2-40B4-BE49-F238E27FC236}">
                <a16:creationId xmlns:a16="http://schemas.microsoft.com/office/drawing/2014/main" id="{0AED83E2-CD22-D062-138B-A90B2E27A76C}"/>
              </a:ext>
            </a:extLst>
          </p:cNvPr>
          <p:cNvPicPr>
            <a:picLocks noChangeAspect="1"/>
          </p:cNvPicPr>
          <p:nvPr/>
        </p:nvPicPr>
        <p:blipFill>
          <a:blip r:embed="rId2"/>
          <a:stretch>
            <a:fillRect/>
          </a:stretch>
        </p:blipFill>
        <p:spPr>
          <a:xfrm>
            <a:off x="6731065" y="1825625"/>
            <a:ext cx="4131122" cy="4324325"/>
          </a:xfrm>
          <a:prstGeom prst="rect">
            <a:avLst/>
          </a:prstGeom>
        </p:spPr>
      </p:pic>
    </p:spTree>
    <p:extLst>
      <p:ext uri="{BB962C8B-B14F-4D97-AF65-F5344CB8AC3E}">
        <p14:creationId xmlns:p14="http://schemas.microsoft.com/office/powerpoint/2010/main" val="2573548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73F94-6EBF-9194-529B-7DDEB05A3FE2}"/>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Ram , Price and Rating:</a:t>
            </a:r>
          </a:p>
        </p:txBody>
      </p:sp>
      <p:sp>
        <p:nvSpPr>
          <p:cNvPr id="3" name="Text Placeholder 2">
            <a:extLst>
              <a:ext uri="{FF2B5EF4-FFF2-40B4-BE49-F238E27FC236}">
                <a16:creationId xmlns:a16="http://schemas.microsoft.com/office/drawing/2014/main" id="{0134F1FB-FABE-C5A0-C29A-35E5CEE3F3BE}"/>
              </a:ext>
            </a:extLst>
          </p:cNvPr>
          <p:cNvSpPr>
            <a:spLocks noGrp="1"/>
          </p:cNvSpPr>
          <p:nvPr>
            <p:ph type="body" idx="1"/>
          </p:nvPr>
        </p:nvSpPr>
        <p:spPr/>
        <p:txBody>
          <a:bodyPr/>
          <a:lstStyle/>
          <a:p>
            <a:pPr marL="114300" indent="0">
              <a:buNone/>
            </a:pPr>
            <a:r>
              <a:rPr lang="en-US" sz="2400" dirty="0">
                <a:latin typeface="Times New Roman" panose="02020603050405020304" pitchFamily="18" charset="0"/>
                <a:cs typeface="Times New Roman" panose="02020603050405020304" pitchFamily="18" charset="0"/>
              </a:rPr>
              <a:t>Price rises with RAM: 4 to 8 GB </a:t>
            </a:r>
          </a:p>
          <a:p>
            <a:pPr marL="114300" indent="0">
              <a:buNone/>
            </a:pPr>
            <a:r>
              <a:rPr lang="en-US" sz="2400" dirty="0">
                <a:latin typeface="Times New Roman" panose="02020603050405020304" pitchFamily="18" charset="0"/>
                <a:cs typeface="Times New Roman" panose="02020603050405020304" pitchFamily="18" charset="0"/>
              </a:rPr>
              <a:t>laptops are cheapest, 16 GB is </a:t>
            </a:r>
          </a:p>
          <a:p>
            <a:pPr marL="114300" indent="0">
              <a:buNone/>
            </a:pPr>
            <a:r>
              <a:rPr lang="en-US" sz="2400" dirty="0">
                <a:latin typeface="Times New Roman" panose="02020603050405020304" pitchFamily="18" charset="0"/>
                <a:cs typeface="Times New Roman" panose="02020603050405020304" pitchFamily="18" charset="0"/>
              </a:rPr>
              <a:t>the most common and spans a </a:t>
            </a:r>
          </a:p>
          <a:p>
            <a:pPr marL="114300" indent="0">
              <a:buNone/>
            </a:pPr>
            <a:r>
              <a:rPr lang="en-US" sz="2400" dirty="0">
                <a:latin typeface="Times New Roman" panose="02020603050405020304" pitchFamily="18" charset="0"/>
                <a:cs typeface="Times New Roman" panose="02020603050405020304" pitchFamily="18" charset="0"/>
              </a:rPr>
              <a:t>wide price range, and 32 to 64 </a:t>
            </a:r>
          </a:p>
          <a:p>
            <a:pPr marL="114300" indent="0">
              <a:buNone/>
            </a:pPr>
            <a:r>
              <a:rPr lang="en-US" sz="2400" dirty="0">
                <a:latin typeface="Times New Roman" panose="02020603050405020304" pitchFamily="18" charset="0"/>
                <a:cs typeface="Times New Roman" panose="02020603050405020304" pitchFamily="18" charset="0"/>
              </a:rPr>
              <a:t>GB cost the most. Ratings show </a:t>
            </a:r>
          </a:p>
          <a:p>
            <a:pPr marL="114300" indent="0">
              <a:buNone/>
            </a:pPr>
            <a:r>
              <a:rPr lang="en-US" sz="2400" dirty="0">
                <a:latin typeface="Times New Roman" panose="02020603050405020304" pitchFamily="18" charset="0"/>
                <a:cs typeface="Times New Roman" panose="02020603050405020304" pitchFamily="18" charset="0"/>
              </a:rPr>
              <a:t>no clear pattern with RAM, and </a:t>
            </a:r>
          </a:p>
          <a:p>
            <a:pPr marL="114300" indent="0">
              <a:buNone/>
            </a:pPr>
            <a:r>
              <a:rPr lang="en-US" sz="2400" dirty="0">
                <a:latin typeface="Times New Roman" panose="02020603050405020304" pitchFamily="18" charset="0"/>
                <a:cs typeface="Times New Roman" panose="02020603050405020304" pitchFamily="18" charset="0"/>
              </a:rPr>
              <a:t>the 64 GB laptop near 10 lakh </a:t>
            </a:r>
          </a:p>
          <a:p>
            <a:pPr marL="114300" indent="0">
              <a:buNone/>
            </a:pPr>
            <a:r>
              <a:rPr lang="en-US" sz="2400" dirty="0">
                <a:latin typeface="Times New Roman" panose="02020603050405020304" pitchFamily="18" charset="0"/>
                <a:cs typeface="Times New Roman" panose="02020603050405020304" pitchFamily="18" charset="0"/>
              </a:rPr>
              <a:t>is an outlier with a very low rating.</a:t>
            </a:r>
          </a:p>
          <a:p>
            <a:pPr marL="114300" indent="0">
              <a:buNone/>
            </a:pPr>
            <a:endParaRPr lang="en-US" dirty="0"/>
          </a:p>
        </p:txBody>
      </p:sp>
      <p:pic>
        <p:nvPicPr>
          <p:cNvPr id="5" name="Picture 4">
            <a:extLst>
              <a:ext uri="{FF2B5EF4-FFF2-40B4-BE49-F238E27FC236}">
                <a16:creationId xmlns:a16="http://schemas.microsoft.com/office/drawing/2014/main" id="{E84571FF-53EE-9A01-ED38-D6232C1B66BB}"/>
              </a:ext>
            </a:extLst>
          </p:cNvPr>
          <p:cNvPicPr>
            <a:picLocks noChangeAspect="1"/>
          </p:cNvPicPr>
          <p:nvPr/>
        </p:nvPicPr>
        <p:blipFill>
          <a:blip r:embed="rId2"/>
          <a:stretch>
            <a:fillRect/>
          </a:stretch>
        </p:blipFill>
        <p:spPr>
          <a:xfrm>
            <a:off x="5275889" y="1825625"/>
            <a:ext cx="6077911" cy="4351338"/>
          </a:xfrm>
          <a:prstGeom prst="rect">
            <a:avLst/>
          </a:prstGeom>
        </p:spPr>
      </p:pic>
    </p:spTree>
    <p:extLst>
      <p:ext uri="{BB962C8B-B14F-4D97-AF65-F5344CB8AC3E}">
        <p14:creationId xmlns:p14="http://schemas.microsoft.com/office/powerpoint/2010/main" val="2283136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CCAA6-087A-0B42-076B-722A212788E2}"/>
              </a:ext>
            </a:extLst>
          </p:cNvPr>
          <p:cNvSpPr>
            <a:spLocks noGrp="1"/>
          </p:cNvSpPr>
          <p:nvPr>
            <p:ph type="title"/>
          </p:nvPr>
        </p:nvSpPr>
        <p:spPr>
          <a:xfrm>
            <a:off x="160421" y="681037"/>
            <a:ext cx="11193379" cy="457952"/>
          </a:xfrm>
        </p:spPr>
        <p:txBody>
          <a:bodyPr>
            <a:normAutofit fontScale="90000"/>
          </a:bodyPr>
          <a:lstStyle/>
          <a:p>
            <a:r>
              <a:rPr lang="en-US" sz="4000" b="1" dirty="0">
                <a:latin typeface="Times New Roman" panose="02020603050405020304" pitchFamily="18" charset="0"/>
                <a:cs typeface="Times New Roman" panose="02020603050405020304" pitchFamily="18" charset="0"/>
              </a:rPr>
              <a:t>Insights:</a:t>
            </a:r>
            <a:br>
              <a:rPr lang="en-US" sz="40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Brand vs Price </a:t>
            </a:r>
            <a:br>
              <a:rPr lang="en-US" dirty="0"/>
            </a:br>
            <a:endParaRPr lang="en-US" sz="4000"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664EC98A-97B9-E7D3-F173-BEA425515C1C}"/>
              </a:ext>
            </a:extLst>
          </p:cNvPr>
          <p:cNvSpPr>
            <a:spLocks noGrp="1"/>
          </p:cNvSpPr>
          <p:nvPr>
            <p:ph type="body" idx="1"/>
          </p:nvPr>
        </p:nvSpPr>
        <p:spPr>
          <a:xfrm>
            <a:off x="160421" y="1347537"/>
            <a:ext cx="11193379" cy="4829426"/>
          </a:xfrm>
        </p:spPr>
        <p:txBody>
          <a:bodyPr>
            <a:normAutofit/>
          </a:bodyPr>
          <a:lstStyle/>
          <a:p>
            <a:r>
              <a:rPr lang="en-US" sz="2400" b="1" dirty="0">
                <a:latin typeface="Times New Roman" panose="02020603050405020304" pitchFamily="18" charset="0"/>
                <a:cs typeface="Times New Roman" panose="02020603050405020304" pitchFamily="18" charset="0"/>
              </a:rPr>
              <a:t>Question: </a:t>
            </a:r>
            <a:r>
              <a:rPr lang="en-US" sz="2400" dirty="0">
                <a:latin typeface="Times New Roman" panose="02020603050405020304" pitchFamily="18" charset="0"/>
                <a:cs typeface="Times New Roman" panose="02020603050405020304" pitchFamily="18" charset="0"/>
              </a:rPr>
              <a:t>Is there a significant difference in average laptop prices among different brands?</a:t>
            </a:r>
          </a:p>
          <a:p>
            <a:r>
              <a:rPr lang="en-US" sz="2400" b="1" dirty="0">
                <a:latin typeface="Times New Roman" panose="02020603050405020304" pitchFamily="18" charset="0"/>
                <a:cs typeface="Times New Roman" panose="02020603050405020304" pitchFamily="18" charset="0"/>
              </a:rPr>
              <a:t>H₀ (Null Hypothesis): </a:t>
            </a:r>
            <a:r>
              <a:rPr lang="en-US" sz="2400" dirty="0">
                <a:latin typeface="Times New Roman" panose="02020603050405020304" pitchFamily="18" charset="0"/>
                <a:cs typeface="Times New Roman" panose="02020603050405020304" pitchFamily="18" charset="0"/>
              </a:rPr>
              <a:t>There is no significant difference in average laptop prices among brands.</a:t>
            </a:r>
          </a:p>
          <a:p>
            <a:r>
              <a:rPr lang="en-US" sz="2400" b="1" dirty="0">
                <a:latin typeface="Times New Roman" panose="02020603050405020304" pitchFamily="18" charset="0"/>
                <a:cs typeface="Times New Roman" panose="02020603050405020304" pitchFamily="18" charset="0"/>
              </a:rPr>
              <a:t>H₁ (Alternative Hypothesis): </a:t>
            </a:r>
            <a:r>
              <a:rPr lang="en-US" sz="2400" dirty="0">
                <a:latin typeface="Times New Roman" panose="02020603050405020304" pitchFamily="18" charset="0"/>
                <a:cs typeface="Times New Roman" panose="02020603050405020304" pitchFamily="18" charset="0"/>
              </a:rPr>
              <a:t>There is a significant difference in average laptop prices among brands.</a:t>
            </a:r>
          </a:p>
          <a:p>
            <a:pPr marL="114300" indent="0">
              <a:buNone/>
            </a:pPr>
            <a:r>
              <a:rPr lang="en-US" b="1" dirty="0">
                <a:latin typeface="Times New Roman" panose="02020603050405020304" pitchFamily="18" charset="0"/>
                <a:cs typeface="Times New Roman" panose="02020603050405020304" pitchFamily="18" charset="0"/>
              </a:rPr>
              <a:t>Output:</a:t>
            </a:r>
          </a:p>
          <a:p>
            <a:pPr latinLnBrk="1"/>
            <a:r>
              <a:rPr lang="en-US" sz="2400" dirty="0">
                <a:latin typeface="Times New Roman" panose="02020603050405020304" pitchFamily="18" charset="0"/>
                <a:cs typeface="Times New Roman" panose="02020603050405020304" pitchFamily="18" charset="0"/>
              </a:rPr>
              <a:t>F-statistic: 5.540343320702333</a:t>
            </a:r>
          </a:p>
          <a:p>
            <a:pPr latinLnBrk="1"/>
            <a:r>
              <a:rPr lang="en-US" sz="2400" dirty="0">
                <a:latin typeface="Times New Roman" panose="02020603050405020304" pitchFamily="18" charset="0"/>
                <a:cs typeface="Times New Roman" panose="02020603050405020304" pitchFamily="18" charset="0"/>
              </a:rPr>
              <a:t>P-value: 4.0608494586152275e-12</a:t>
            </a:r>
          </a:p>
          <a:p>
            <a:pPr latinLnBrk="1"/>
            <a:r>
              <a:rPr lang="en-US" sz="2400" dirty="0">
                <a:latin typeface="Times New Roman" panose="02020603050405020304" pitchFamily="18" charset="0"/>
                <a:cs typeface="Times New Roman" panose="02020603050405020304" pitchFamily="18" charset="0"/>
              </a:rPr>
              <a:t>Reject H0</a:t>
            </a:r>
          </a:p>
          <a:p>
            <a:pPr latinLnBrk="1"/>
            <a:r>
              <a:rPr lang="en-US" sz="2400" dirty="0">
                <a:latin typeface="Times New Roman" panose="02020603050405020304" pitchFamily="18" charset="0"/>
                <a:cs typeface="Times New Roman" panose="02020603050405020304" pitchFamily="18" charset="0"/>
              </a:rPr>
              <a:t>Insight: There is a significant difference in average laptop prices among brands.</a:t>
            </a:r>
          </a:p>
          <a:p>
            <a:pPr marL="114300" indent="0">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1300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181F9-F3DA-9C6A-20AE-C3558DE58A51}"/>
              </a:ext>
            </a:extLst>
          </p:cNvPr>
          <p:cNvSpPr>
            <a:spLocks noGrp="1"/>
          </p:cNvSpPr>
          <p:nvPr>
            <p:ph type="title"/>
          </p:nvPr>
        </p:nvSpPr>
        <p:spPr>
          <a:xfrm>
            <a:off x="256674" y="186814"/>
            <a:ext cx="11097126" cy="1690688"/>
          </a:xfrm>
        </p:spPr>
        <p:txBody>
          <a:bodyPr>
            <a:normAutofit/>
          </a:bodyPr>
          <a:lstStyle/>
          <a:p>
            <a:r>
              <a:rPr lang="en-US" sz="3200" b="1" dirty="0">
                <a:latin typeface="Times New Roman" panose="02020603050405020304" pitchFamily="18" charset="0"/>
                <a:cs typeface="Times New Roman" panose="02020603050405020304" pitchFamily="18" charset="0"/>
              </a:rPr>
              <a:t>   RAM vs Price:</a:t>
            </a:r>
            <a:br>
              <a:rPr lang="en-US" sz="3200" dirty="0"/>
            </a:br>
            <a:endParaRPr lang="en-US" sz="3200" dirty="0"/>
          </a:p>
        </p:txBody>
      </p:sp>
      <p:sp>
        <p:nvSpPr>
          <p:cNvPr id="3" name="Text Placeholder 2">
            <a:extLst>
              <a:ext uri="{FF2B5EF4-FFF2-40B4-BE49-F238E27FC236}">
                <a16:creationId xmlns:a16="http://schemas.microsoft.com/office/drawing/2014/main" id="{F583DC2D-713B-EED3-576C-C75439E736EC}"/>
              </a:ext>
            </a:extLst>
          </p:cNvPr>
          <p:cNvSpPr>
            <a:spLocks noGrp="1"/>
          </p:cNvSpPr>
          <p:nvPr>
            <p:ph type="body" idx="1"/>
          </p:nvPr>
        </p:nvSpPr>
        <p:spPr>
          <a:xfrm>
            <a:off x="417095" y="1138989"/>
            <a:ext cx="10936705" cy="5037974"/>
          </a:xfrm>
        </p:spPr>
        <p:txBody>
          <a:bodyPr/>
          <a:lstStyle/>
          <a:p>
            <a:r>
              <a:rPr lang="en-US" sz="2400" b="1" dirty="0">
                <a:latin typeface="Times New Roman" panose="02020603050405020304" pitchFamily="18" charset="0"/>
                <a:cs typeface="Times New Roman" panose="02020603050405020304" pitchFamily="18" charset="0"/>
              </a:rPr>
              <a:t>Question:</a:t>
            </a:r>
            <a:r>
              <a:rPr lang="en-US" sz="2400" dirty="0">
                <a:latin typeface="Times New Roman" panose="02020603050405020304" pitchFamily="18" charset="0"/>
                <a:cs typeface="Times New Roman" panose="02020603050405020304" pitchFamily="18" charset="0"/>
              </a:rPr>
              <a:t> Is there a significant relationship between laptop discounts and prices?</a:t>
            </a:r>
          </a:p>
          <a:p>
            <a:r>
              <a:rPr lang="en-US" sz="2400" b="1" dirty="0">
                <a:latin typeface="Times New Roman" panose="02020603050405020304" pitchFamily="18" charset="0"/>
                <a:cs typeface="Times New Roman" panose="02020603050405020304" pitchFamily="18" charset="0"/>
              </a:rPr>
              <a:t>Null Hypothesis (H₀):</a:t>
            </a:r>
            <a:r>
              <a:rPr lang="en-US" sz="2400" dirty="0">
                <a:latin typeface="Times New Roman" panose="02020603050405020304" pitchFamily="18" charset="0"/>
                <a:cs typeface="Times New Roman" panose="02020603050405020304" pitchFamily="18" charset="0"/>
              </a:rPr>
              <a:t> There is no significant linear relationship between laptop discounts and prices.</a:t>
            </a:r>
          </a:p>
          <a:p>
            <a:r>
              <a:rPr lang="en-US" sz="2400" b="1" dirty="0">
                <a:latin typeface="Times New Roman" panose="02020603050405020304" pitchFamily="18" charset="0"/>
                <a:cs typeface="Times New Roman" panose="02020603050405020304" pitchFamily="18" charset="0"/>
              </a:rPr>
              <a:t>Alternative Hypothesis (H₁): </a:t>
            </a:r>
            <a:r>
              <a:rPr lang="en-US" sz="2400" dirty="0">
                <a:latin typeface="Times New Roman" panose="02020603050405020304" pitchFamily="18" charset="0"/>
                <a:cs typeface="Times New Roman" panose="02020603050405020304" pitchFamily="18" charset="0"/>
              </a:rPr>
              <a:t>There is a significant linear relationship between laptop discounts and prices.</a:t>
            </a:r>
          </a:p>
          <a:p>
            <a:pPr marL="114300" indent="0">
              <a:buNone/>
            </a:pPr>
            <a:r>
              <a:rPr lang="en-US" sz="3200" b="1" dirty="0">
                <a:latin typeface="Times New Roman" panose="02020603050405020304" pitchFamily="18" charset="0"/>
                <a:cs typeface="Times New Roman" panose="02020603050405020304" pitchFamily="18" charset="0"/>
              </a:rPr>
              <a:t>output:</a:t>
            </a:r>
          </a:p>
          <a:p>
            <a:pPr latinLnBrk="1"/>
            <a:r>
              <a:rPr lang="en-US" sz="2400" dirty="0">
                <a:latin typeface="Times New Roman" panose="02020603050405020304" pitchFamily="18" charset="0"/>
                <a:cs typeface="Times New Roman" panose="02020603050405020304" pitchFamily="18" charset="0"/>
              </a:rPr>
              <a:t>Correlation: -0.25558655822251525</a:t>
            </a:r>
          </a:p>
          <a:p>
            <a:pPr latinLnBrk="1"/>
            <a:r>
              <a:rPr lang="en-US" sz="2400" dirty="0">
                <a:latin typeface="Times New Roman" panose="02020603050405020304" pitchFamily="18" charset="0"/>
                <a:cs typeface="Times New Roman" panose="02020603050405020304" pitchFamily="18" charset="0"/>
              </a:rPr>
              <a:t>P-value: 3.155796391044576e-06</a:t>
            </a:r>
          </a:p>
          <a:p>
            <a:pPr latinLnBrk="1"/>
            <a:r>
              <a:rPr lang="en-US" sz="2400" dirty="0">
                <a:latin typeface="Times New Roman" panose="02020603050405020304" pitchFamily="18" charset="0"/>
                <a:cs typeface="Times New Roman" panose="02020603050405020304" pitchFamily="18" charset="0"/>
              </a:rPr>
              <a:t>Reject H0</a:t>
            </a:r>
          </a:p>
          <a:p>
            <a:pPr latinLnBrk="1"/>
            <a:r>
              <a:rPr lang="en-US" sz="2400" dirty="0">
                <a:latin typeface="Times New Roman" panose="02020603050405020304" pitchFamily="18" charset="0"/>
                <a:cs typeface="Times New Roman" panose="02020603050405020304" pitchFamily="18" charset="0"/>
              </a:rPr>
              <a:t>Insight: Discount and Price have a statistically significant relationship</a:t>
            </a:r>
            <a:r>
              <a:rPr lang="en-US" dirty="0"/>
              <a:t>.</a:t>
            </a:r>
          </a:p>
          <a:p>
            <a:pPr algn="just"/>
            <a:endParaRPr lang="en-US" dirty="0"/>
          </a:p>
        </p:txBody>
      </p:sp>
    </p:spTree>
    <p:extLst>
      <p:ext uri="{BB962C8B-B14F-4D97-AF65-F5344CB8AC3E}">
        <p14:creationId xmlns:p14="http://schemas.microsoft.com/office/powerpoint/2010/main" val="1393177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AAA2F-F7F7-E581-F30B-52B51D88387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Recommendations:</a:t>
            </a:r>
            <a:br>
              <a:rPr lang="en-US" b="1" dirty="0"/>
            </a:br>
            <a:endParaRPr lang="en-US" dirty="0"/>
          </a:p>
        </p:txBody>
      </p:sp>
      <p:sp>
        <p:nvSpPr>
          <p:cNvPr id="3" name="Text Placeholder 2">
            <a:extLst>
              <a:ext uri="{FF2B5EF4-FFF2-40B4-BE49-F238E27FC236}">
                <a16:creationId xmlns:a16="http://schemas.microsoft.com/office/drawing/2014/main" id="{08894CC3-FAE1-25BD-25CA-CDCFA9E1ADCE}"/>
              </a:ext>
            </a:extLst>
          </p:cNvPr>
          <p:cNvSpPr>
            <a:spLocks noGrp="1"/>
          </p:cNvSpPr>
          <p:nvPr>
            <p:ph type="body" idx="1"/>
          </p:nvPr>
        </p:nvSpPr>
        <p:spPr>
          <a:xfrm>
            <a:off x="711200" y="1402080"/>
            <a:ext cx="10642600" cy="4774883"/>
          </a:xfrm>
        </p:spPr>
        <p:txBody>
          <a:bodyPr>
            <a:normAutofit/>
          </a:bodyPr>
          <a:lstStyle/>
          <a:p>
            <a:pPr lvl="0"/>
            <a:r>
              <a:rPr lang="en-US" sz="2400" dirty="0">
                <a:latin typeface="Times New Roman" panose="02020603050405020304" pitchFamily="18" charset="0"/>
                <a:cs typeface="Times New Roman" panose="02020603050405020304" pitchFamily="18" charset="0"/>
              </a:rPr>
              <a:t>Compare laptop prices across different brands before purchasing.</a:t>
            </a:r>
          </a:p>
          <a:p>
            <a:pPr lvl="0"/>
            <a:r>
              <a:rPr lang="en-US" sz="2400" dirty="0">
                <a:latin typeface="Times New Roman" panose="02020603050405020304" pitchFamily="18" charset="0"/>
                <a:cs typeface="Times New Roman" panose="02020603050405020304" pitchFamily="18" charset="0"/>
              </a:rPr>
              <a:t>Choose RAM and storage based on personal needs and budget.</a:t>
            </a:r>
          </a:p>
          <a:p>
            <a:pPr lvl="0"/>
            <a:r>
              <a:rPr lang="en-US" sz="2400" dirty="0">
                <a:latin typeface="Times New Roman" panose="02020603050405020304" pitchFamily="18" charset="0"/>
                <a:cs typeface="Times New Roman" panose="02020603050405020304" pitchFamily="18" charset="0"/>
              </a:rPr>
              <a:t>Check customer ratings to understand product quality.</a:t>
            </a:r>
          </a:p>
          <a:p>
            <a:pPr lvl="0"/>
            <a:r>
              <a:rPr lang="en-US" sz="2400" dirty="0">
                <a:latin typeface="Times New Roman" panose="02020603050405020304" pitchFamily="18" charset="0"/>
                <a:cs typeface="Times New Roman" panose="02020603050405020304" pitchFamily="18" charset="0"/>
              </a:rPr>
              <a:t>Compare discounts to identify better deals.</a:t>
            </a:r>
          </a:p>
          <a:p>
            <a:pPr lvl="0"/>
            <a:r>
              <a:rPr lang="en-US" sz="2400" dirty="0">
                <a:latin typeface="Times New Roman" panose="02020603050405020304" pitchFamily="18" charset="0"/>
                <a:cs typeface="Times New Roman" panose="02020603050405020304" pitchFamily="18" charset="0"/>
              </a:rPr>
              <a:t>Focus on popular laptop configurations, such as 512 GB storage.</a:t>
            </a:r>
          </a:p>
          <a:p>
            <a:pPr lvl="0"/>
            <a:r>
              <a:rPr lang="en-US" sz="2400" dirty="0">
                <a:latin typeface="Times New Roman" panose="02020603050405020304" pitchFamily="18" charset="0"/>
                <a:cs typeface="Times New Roman" panose="02020603050405020304" pitchFamily="18" charset="0"/>
              </a:rPr>
              <a:t>Businesses should review competitor prices and discount strategies.</a:t>
            </a:r>
          </a:p>
          <a:p>
            <a:pPr lvl="0"/>
            <a:r>
              <a:rPr lang="en-US" sz="2400" dirty="0">
                <a:latin typeface="Times New Roman" panose="02020603050405020304" pitchFamily="18" charset="0"/>
                <a:cs typeface="Times New Roman" panose="02020603050405020304" pitchFamily="18" charset="0"/>
              </a:rPr>
              <a:t>Use data insights to improve product selection and pricing decisions.</a:t>
            </a:r>
          </a:p>
          <a:p>
            <a:pPr marL="114300" indent="0">
              <a:buNone/>
            </a:pPr>
            <a:endParaRPr lang="en-US" dirty="0"/>
          </a:p>
        </p:txBody>
      </p:sp>
    </p:spTree>
    <p:extLst>
      <p:ext uri="{BB962C8B-B14F-4D97-AF65-F5344CB8AC3E}">
        <p14:creationId xmlns:p14="http://schemas.microsoft.com/office/powerpoint/2010/main" val="4073549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32C0A-A9C4-2C0F-2A75-055BFE38787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Conclusion:</a:t>
            </a:r>
            <a:br>
              <a:rPr lang="en-US" b="1" dirty="0"/>
            </a:br>
            <a:endParaRPr lang="en-US" dirty="0"/>
          </a:p>
        </p:txBody>
      </p:sp>
      <p:sp>
        <p:nvSpPr>
          <p:cNvPr id="3" name="Text Placeholder 2">
            <a:extLst>
              <a:ext uri="{FF2B5EF4-FFF2-40B4-BE49-F238E27FC236}">
                <a16:creationId xmlns:a16="http://schemas.microsoft.com/office/drawing/2014/main" id="{5B58061E-558A-B419-50A4-EA0378322BAD}"/>
              </a:ext>
            </a:extLst>
          </p:cNvPr>
          <p:cNvSpPr>
            <a:spLocks noGrp="1"/>
          </p:cNvSpPr>
          <p:nvPr>
            <p:ph type="body" idx="1"/>
          </p:nvPr>
        </p:nvSpPr>
        <p:spPr>
          <a:xfrm>
            <a:off x="838200" y="1168400"/>
            <a:ext cx="10515600" cy="5008563"/>
          </a:xfrm>
        </p:spPr>
        <p:txBody>
          <a:bodyPr>
            <a:normAutofit/>
          </a:bodyPr>
          <a:lstStyle/>
          <a:p>
            <a:pPr marL="114300" indent="0" algn="just">
              <a:buNone/>
            </a:pPr>
            <a:r>
              <a:rPr lang="en-US" sz="2400" dirty="0">
                <a:latin typeface="Times New Roman" panose="02020603050405020304" pitchFamily="18" charset="0"/>
                <a:cs typeface="Times New Roman" panose="02020603050405020304" pitchFamily="18" charset="0"/>
              </a:rPr>
              <a:t>This project analyzed 324 Amazon laptop records to understand laptop market trends, pricing patterns, discounts, specifications, and customer ratings. The analysis helped identify popular brands, commonly preferred RAM and ROM configurations, processor categories, and different price segments. It also helped identify highly rated and value-for-money laptops by comparing their prices, specifications, discounts, and ratings. Overall, the insights can help customers make better purchasing decisions and help businesses improve their pricing, inventory, product selection, and marketing strategies.</a:t>
            </a:r>
          </a:p>
          <a:p>
            <a:endParaRPr lang="en-US" dirty="0"/>
          </a:p>
        </p:txBody>
      </p:sp>
    </p:spTree>
    <p:extLst>
      <p:ext uri="{BB962C8B-B14F-4D97-AF65-F5344CB8AC3E}">
        <p14:creationId xmlns:p14="http://schemas.microsoft.com/office/powerpoint/2010/main" val="28475252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E4E76-E828-1F6B-4D61-D44E51DC815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01DC51C0-6898-BCB1-1B15-9E24A6149F49}"/>
              </a:ext>
            </a:extLst>
          </p:cNvPr>
          <p:cNvSpPr>
            <a:spLocks noGrp="1"/>
          </p:cNvSpPr>
          <p:nvPr>
            <p:ph type="body" idx="1"/>
          </p:nvPr>
        </p:nvSpPr>
        <p:spPr/>
        <p:txBody>
          <a:bodyPr/>
          <a:lstStyle/>
          <a:p>
            <a:pPr marL="114300" indent="0">
              <a:buNone/>
            </a:pPr>
            <a:endParaRPr lang="en-IN" b="1" dirty="0"/>
          </a:p>
          <a:p>
            <a:pPr marL="114300" indent="0">
              <a:buNone/>
            </a:pPr>
            <a:endParaRPr lang="en-IN" b="1" dirty="0"/>
          </a:p>
          <a:p>
            <a:pPr marL="114300" indent="0">
              <a:buNone/>
            </a:pPr>
            <a:endParaRPr lang="en-IN" b="1" dirty="0"/>
          </a:p>
          <a:p>
            <a:pPr marL="114300" indent="0">
              <a:buNone/>
            </a:pPr>
            <a:r>
              <a:rPr lang="en-IN" b="1" dirty="0"/>
              <a:t>                               </a:t>
            </a:r>
            <a:r>
              <a:rPr lang="en-IN" sz="6000" b="1" dirty="0">
                <a:latin typeface="Times New Roman" panose="02020603050405020304" pitchFamily="18" charset="0"/>
                <a:cs typeface="Times New Roman" panose="02020603050405020304" pitchFamily="18" charset="0"/>
              </a:rPr>
              <a:t>Q&amp;A Slide </a:t>
            </a:r>
            <a:endParaRPr lang="en-IN" sz="60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947567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2354</TotalTime>
  <Words>1197</Words>
  <Application>Microsoft Office PowerPoint</Application>
  <PresentationFormat>Widescreen</PresentationFormat>
  <Paragraphs>137</Paragraphs>
  <Slides>21</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Wingdings</vt:lpstr>
      <vt:lpstr>Calibri</vt:lpstr>
      <vt:lpstr>Libre Baskerville</vt:lpstr>
      <vt:lpstr>Times New Roman</vt:lpstr>
      <vt:lpstr>Office Theme</vt:lpstr>
      <vt:lpstr>PowerPoint Presentation</vt:lpstr>
      <vt:lpstr>About ME:</vt:lpstr>
      <vt:lpstr>    Agenda :</vt:lpstr>
      <vt:lpstr>Business Problem :</vt:lpstr>
      <vt:lpstr>Business Statement:</vt:lpstr>
      <vt:lpstr>Objectives:</vt:lpstr>
      <vt:lpstr>Introduction: </vt:lpstr>
      <vt:lpstr>Data Description:</vt:lpstr>
      <vt:lpstr>Data Cleaning: </vt:lpstr>
      <vt:lpstr>Univariate Analysis Laptop Count by Brand:</vt:lpstr>
      <vt:lpstr>Discount Distribution:</vt:lpstr>
      <vt:lpstr>Bivariate Analysis:  Discount VS Rating:</vt:lpstr>
      <vt:lpstr>Price VS ROM:</vt:lpstr>
      <vt:lpstr>Multivariate Analysis: Price , Rating , Brand and Discount:</vt:lpstr>
      <vt:lpstr>Ram , Price and Rating:</vt:lpstr>
      <vt:lpstr>Insights: Brand vs Price  </vt:lpstr>
      <vt:lpstr>   RAM vs Price: </vt:lpstr>
      <vt:lpstr>Recommendations: </vt:lpstr>
      <vt:lpstr>Conclusion: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Krishnaveni Vinitha</cp:lastModifiedBy>
  <cp:revision>8</cp:revision>
  <dcterms:created xsi:type="dcterms:W3CDTF">2021-02-16T05:19:01Z</dcterms:created>
  <dcterms:modified xsi:type="dcterms:W3CDTF">2026-10-10T07:57:03Z</dcterms:modified>
</cp:coreProperties>
</file>